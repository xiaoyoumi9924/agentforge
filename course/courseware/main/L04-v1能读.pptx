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57" r:id="rId4"/>
    <p:sldId id="29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98" r:id="rId14"/>
    <p:sldId id="266" r:id="rId15"/>
    <p:sldId id="267" r:id="rId16"/>
    <p:sldId id="299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3" r:id="rId27"/>
    <p:sldId id="284" r:id="rId28"/>
    <p:sldId id="285" r:id="rId29"/>
    <p:sldId id="302" r:id="rId30"/>
    <p:sldId id="286" r:id="rId31"/>
    <p:sldId id="287" r:id="rId32"/>
    <p:sldId id="288" r:id="rId33"/>
    <p:sldId id="289" r:id="rId34"/>
    <p:sldId id="303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828800"/>
            <a:ext cx="92290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971800"/>
            <a:ext cx="922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把「模型的话」变成「动作</a:t>
            </a:r>
            <a:r>
              <a:rPr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7167" y="1005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L4 ·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1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65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解析 </a:t>
            </a:r>
            <a:r>
              <a:rPr lang="en-US" altLang="zh-CN" sz="165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VS 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静默出错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静默出错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最后两项与 L3 的两处失效模式同类 —— 同类问题应由统一规则解决，而非逐个修补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875038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1966" y="1298448"/>
            <a:ext cx="3759665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不做会怎样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1631" y="1298448"/>
            <a:ext cx="4423135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症状的迷惑性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tools 定义没下发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1966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模型不发起任何工具调用，仅返回文本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1631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易被误判为「该模型不支持 function calling」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875038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参数切成 N 段却中途 parse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1966" y="1933448"/>
            <a:ext cx="375966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每次都「模型给了非法参数」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1631" y="1933448"/>
            <a:ext cx="442313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排查常被引导至模型，而非参数累积时序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assistant.tool_calls 没存回历史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1966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模型重复调同一个工具直到撞上限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1631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看起来像「模型变笨了」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2875038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工具失败抛异常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1966" y="2543048"/>
            <a:ext cx="375966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turn 直接结束，模型看不到错误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1631" y="2543048"/>
            <a:ext cx="442313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「明明 read 成功了，下一步却整个崩掉」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1 章 · 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2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</a:t>
            </a:r>
            <a:r>
              <a:rPr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3400" b="1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已知</a:t>
            </a:r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领域</a:t>
            </a:r>
            <a:r>
              <a:rPr lang="zh-CN" altLang="en-US"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endParaRPr sz="34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工具调用协议、参数校验、动态链接三条线索，以及它们各自落在正文的哪一处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背景一 · 工具调用的两阶段往返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模型不执行任何操作，只输出结构化的调用意图：工具名与参数。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执行由宿主完成，结果作为新的消息回传，构成第二次请求。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该机制称为 function calling / tool calling，其往返为两个阶段：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阶段一：请求 → 模型返回 tool_calls（意图，而非动作）。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阶段二：工具结果回传 → 模型给出最终回答。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由此产生三项结构要求：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工具定义必须随请求下发，否则模型不会发起调用。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assistant 消息必须保留 tool_calls 字段，否则历史不完整。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工具结果必须与调用标识配对，否则模型无法对应。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背景二 · 两种协议在工具调用上的差异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差异集中在三处：参数形态、结果配对方式、角色交替约束。这三者决定了适配层的形状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76925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6182" y="1298448"/>
            <a:ext cx="464429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0474" y="1298448"/>
            <a:ext cx="464429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工具定义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6182" y="1628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tools[].function.parameters（JSON Schema）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80474" y="1628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tools[].input_schema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调用表示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6182" y="19334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message.tool_calls[]，支持并行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0474" y="19334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content[] 中 type = tool_use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参数形态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182" y="22382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arguments 为 JSON 字符串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0474" y="22382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input 为对象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结果回传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6182" y="25430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role = tool + tool_call_id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0474" y="25430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user 消息中 type = tool_result + tool_use_id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流式参数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6182" y="28478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 delta 增量拼接，须按 index 分桶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80474" y="28478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 input_json_delta 增量拼接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176925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角色约束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6182" y="31526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允许连续同角色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0474" y="31526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严格交替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背景三 · JSON Schema 与参数校验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工具参数以 JSON Schema 描述类型、必需字段与取值约束。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校验分为三个层次：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语法层：字节序列能否解析为 JSON。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结构层：字段类型与必需性是否与 Schema 一致。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语义层：取值是否合法（路径是否存在、范围是否有效）。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流式场景下参数以增量形式到达，只能在收到结束标记后执行一次解析。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校验失败应作为错误结果回传模型，不得抛出异常终止流程。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背景四 · 动态链接、ABI 与跨边界内存管理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动态库在运行期加载：解析导出符号 → 绑定地址 → 调用。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C++ 的名字修饰使符号名依赖编译器与函数签名，须以 extern "C" 关闭修饰。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不同模块可能使用不同的运行时堆，分配与释放必须成对发生在同一侧。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异常不得跨越模块边界传播：跨越动态库边界抛出异常属未定义行为。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 版本不匹配时应拒绝加载，不得尝试调用后再判定。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Windows 侧对应机制：LoadLibraryW / GetProcAddress / FreeLibrary；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库句柄须由 RAII 对象持有，避免依赖显式释放调用。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背景五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工具调用依据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三条共同说明：工具的「描述」与「返回」都是契约，不是说明文字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31735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4279" y="1298448"/>
            <a:ext cx="420197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6257" y="1298448"/>
            <a:ext cx="353850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331735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Toolformer（Schick 等，NeurIPS 2023）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4279" y="1628648"/>
            <a:ext cx="420197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模型可以自己学会何时调用何种工具，工具调用是模型可习得的动作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6257" y="16286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工具不是外挂脚本，其描述形状直接决定调用是否发生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3317351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function calling 与 MCP（Anthropic，2024-11）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4279" y="2149348"/>
            <a:ext cx="420197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工具以结构化描述（名称、说明、参数 Schema）暴露，参数校验有 Schema 依据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6257" y="2149348"/>
            <a:ext cx="353850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工具定义即接口契约，需具备可校验性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31735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ReAct（ICLR 2023）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4279" y="2670048"/>
            <a:ext cx="420197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动作从环境取回观察；观察的质量决定后续推理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6257" y="26700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工具返回的内容形状属于契约的一部分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背景六 · 真实系统对工具集合的处理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来源：Anthropic《Prompt caching is everything》《Manage tool context》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43272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652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5101" y="1298448"/>
            <a:ext cx="375966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43272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不在会话中途增删工具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9652" y="1628648"/>
            <a:ext cx="4865449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工具定义属于缓存前缀，中途增删会使整段会话的缓存失效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5101" y="1628648"/>
            <a:ext cx="3759665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与「顺序即缓存」同源：工具表的排列与注册时机都属于顺序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2432724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用存根延迟加载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652" y="2149348"/>
            <a:ext cx="4865449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先发送轻量存根，模型需要时再取回完整定义，前缀保持稳定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5101" y="2149348"/>
            <a:ext cx="3759665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「不减少工具」而是「延后其定义」，与压缩的降级链思路一致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清理失效的工具结果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652" y="26700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官方将清理历史中已失效的工具结果列为四类上下文管理手段之一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5101" y="26700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对应输出过滤与后续降级链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参考 · 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完整清单见 12-课件PPT/05-参考资料.md §2 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508660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5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2711" y="16286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Schick 等《Toolformer》NeurIPS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6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工具调用为什么是模型可习得的动作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2711" y="19334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MCP（Anthropic，2024-11）与 function calling 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6" y="19334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工具描述与参数校验的形状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官方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2711" y="22382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Anthropic《Prompt caching is everything》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6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为什么会话中途不能增删工具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官方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5430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Anthropic《Manage tool context》四类手段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6" y="25430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工具定义与工具结果各自的省法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2711" y="28478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Windows LoadLibraryW / GetProcAddress；extern "C" 与跨堆分配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6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插件 ABI 的约束来源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背景如何落到</a:t>
            </a:r>
            <a:r>
              <a:rPr lang="zh-CN" altLang="en-US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背景不是铺垫：正文的每一步，都对应一个已有明确机制的领域问题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75966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背景里的机制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6593" y="1298448"/>
            <a:ext cx="729817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两阶段往返（背景一）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593" y="16286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G5 主干时序图第 2 版：一次调用变成两次，且以数据形态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334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两种协议的工具调用差异（背景二）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6593" y="19334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伪码 P3：参数按 index 分桶累积，在结束那一刻解析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JSON Schema 与参数校验（背景三）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593" y="22382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派发管线的第二步：校验失败也是 ToolResult，不是异常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430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ABI 与跨边界内存管理（背景四）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6593" y="25430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ABI 三铁律；宿主侧取得结果后调用插件的释放函数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478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工具调用的三条一手依据（背景五）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6593" y="28478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tools 必须下发（L4-1）；assistant 消息须存整个 resp.message（L4-3）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26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真实系统对工具集合的处理（背景六）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6593" y="31526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新工具默认落 Ask —— 非交互下等于拒绝（K-8）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3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概念与边界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一次调用变成两次</a:t>
            </a:r>
            <a:r>
              <a:rPr lang="en-US" altLang="zh-CN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—— </a:t>
            </a:r>
            <a:r>
              <a:rPr lang="zh-CN" altLang="en-US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模型不真正执行，只表达意图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一次调用变成两次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469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 1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次：发请求（带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tools）→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模型回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tool_call（意图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执行工具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把结果作为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tool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消息回传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 2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次：模型看到结果，给出回答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关键：模型只产出「意图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绝不直接触碰文件系统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真正的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I/O 由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ToolRegistry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完成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概念与边界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v1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的边界：不做什么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066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不做真正的自主循环（等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L5）。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不做写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执行类工具（只有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Read）。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不做压缩、不做上下文预算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概念与边界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4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工具调用协议与参数累积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先用主干时序图看多出来的那次往返，再解决流式参数为什么必须分桶累积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G5 主干时序图第 2 版：多一次往返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F05：工具参数按 index 分桶累积；伪码 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参数被切成 4 段，逐段解析必然失败（L4-2）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486397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tools 没下发，模型就不发起工具调用（L4-1）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907020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assistant 消息不能只存 content（L4-3）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G5 主干时序图 · 第 2 版（多一次往返）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7" name="Picture 6" descr="G05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593" y="1298448"/>
            <a:ext cx="6918509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G05 v2 · 01-图表库/G05-v2.mmd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G6 类图 —— 工具插件 ABI：谁持有生命周期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7" name="Picture 6" descr="G06-plugin-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67" y="1298448"/>
            <a:ext cx="5798442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298448"/>
            <a:ext cx="3843223" cy="2621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四层所有权：def（值）/ fn（闭包）/ abi（裸指针）/ pluginLib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pluginLib 用 shared_ptr&lt;void&gt; 保住动态库句柄（RAII）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 void 是为了不在头文件里暴露 windows.h 的 HMODULE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纯 C ABI：C++ 没有稳定 ABI，跨边界传 C++ 类型是 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G06 · 01-图表库/G06-plugin-abi.mmd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U03 · ToolRegistry / ToolDef / Entry / AFToolPlugin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7" name="Picture 6" descr="U03-tool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4037"/>
            <a:ext cx="11057839" cy="4363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U03 · 源文件：tool_registry.hpp / plugin.hpp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G7 活动图 —— 工具派发管线（五步，六个出口）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7" name="Picture 6" descr="G07-dispatch-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753" y="1298448"/>
            <a:ext cx="9532188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G07 · 01-图表库/G07-dispatch-activity.mmd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F04 · 派发五步管线 ★（六个出口全返回 ToolResult）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7" name="Picture 6" descr="F04-dispatch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71839"/>
            <a:ext cx="6903720" cy="44080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298448"/>
            <a:ext cx="3843223" cy="2080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注册 → 校验 → 权限 → 执行 → 输出过滤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六个出口无一抛异常 —— 失败是 observation，回喂模型让它自己改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消毒与落盘在管线上，不在各工具内部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这样插件自动被覆盖，不用每个插件记得做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F04 · 源文件：tool_registry.cpp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F05 · 工具参数增量累积（按 index 分桶）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7" name="Picture 6" descr="F05-toolargs-accum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34" y="1298448"/>
            <a:ext cx="10552826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F05 · 源文件：providers.cpp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工具调用协议与参数累积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伪码 P3 —— 工具参数的增量累积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【码】 伪码 P3 · providers.cpp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状态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{}                 // map&lt;index, {id, name, raw}&gt;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过程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onChunk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(chunk):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① 若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chunk.delta.tool_calls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存在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对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每一个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tc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tc.index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   // ★★ 按 index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分桶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若 tc.function.name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非空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发出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ToolCallStart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{id, name}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若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tc.function.arguments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非空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].raw ←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].raw +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tc.function.arguments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                              // ★★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只累积，不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parse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② 若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finish_reason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非空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                // ★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永远最后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对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每一个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idx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in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parse(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buf.raw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为空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? "{}" :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buf.raw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  // ★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只在这里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parse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一次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若 parse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失败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{}          //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容错：让参数校验去报错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发出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ToolCallDone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{id,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清空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bufs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 index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分桶，不是「按出现顺序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」——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并行调用会互相污染参数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只累积、中途不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parse ——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否则每次都在解析半个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JSON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parse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失败容错成空对象：让校验去报「缺少必需字段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模型能自己改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插件 ABI 与生命周期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伪码 P4 —— 派发与权限门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【码】 伪码 P4 · tool_registry.cpp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过程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dispatch(call,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ui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def ← 按 name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查表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找不到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  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error「未知工具名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可用工具完整列表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1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参数不合法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error「缺哪个字段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                 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2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decision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gate.evaluate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(def,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    // deny → ask → allow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Deny:    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error「被策略拒绝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规则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            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3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Ask 且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用户拒绝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error「用户拒绝了这次操作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       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4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执行（内置函数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或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插件的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execute）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r.content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← sanitizeUtf8(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r.content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    // ★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外部字节的边界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maybePersistLargeResult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(r, def)     //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超限落盘，只留预览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若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输出为空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读失败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error「具体原因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                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5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r                                                  ←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出口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6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★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六个出口全部返回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ToolResult，无一抛异常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deny 段优先求值：构造时以 stable_sort 强制 deny 段排最前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不能靠配置写对顺序 —— 顺序错了就是安全漏洞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求值序：deny → ask → allow → fallback（默认 Ask）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插件 ABI 与生命周期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文件清单：谁复用、谁新写、谁一个字没改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L4-v1能读/code/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 algn="ctr"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code/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types.hpp            ← 契约层（L2 定稿，L3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零改动，仍零改动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model_provider.hpp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①（L2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定稿，零改动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http_transport.hpp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②（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零改动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http_winhttp.cpp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端口②的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Windows 实现（L3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沿用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sse_parser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.{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hpp,cpp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字节流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→ 事件（L3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沿用，一行没改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sandbox.hpp   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③：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仍然只有声明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（</a:t>
            </a:r>
            <a:r>
              <a:rPr lang="zh-CN" altLang="en-US"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待实现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tool_registry.hpp 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只加不改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：+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loadPlugin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()、Entry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加两个字段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tool_registry.cpp 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新写：注册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校验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权限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派发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输出过滤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plugin.{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hpp,cpp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  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新写：C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ABI +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LoadLibraryW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RAII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providers.cpp     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改写：tool_calls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累积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tools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下发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main.cpp             ← ★ 改写：v0 → v1（临时的 for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循环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plugins/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│   ├── sample_plugin.cpp  ← ★ </a:t>
            </a:r>
            <a:r>
              <a:rPr lang="zh-CN" altLang="en-US" sz="130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可编译并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加载的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WordCount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插件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│   └── build_plugin.ps1   ←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编成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.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dll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校验导出符号名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└── mock_server.py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开始真的发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tool_calls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1962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需关注两处「零改动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从 L2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定稿以来一个字没改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CR-3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第二次得到验证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tool_registry.hpp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是「只加不改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」：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新增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loadPlugin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()、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Entry 加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pluginLib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两个字段，原有接口</a:t>
            </a:r>
            <a:r>
              <a:rPr lang="zh-CN" altLang="en-US"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插件 ABI 与生命周期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权限门：deny 段优先求值（构造时强制排序）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DefaultPermissionGate 的构造函数里做一件事：把 deny 段排到最前。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用 stable_sort 不是 sort —— 同类规则的相对顺序不能被破坏。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人写的规则表里，顺序有时是语义的一部分；用 sort 会让两条 deny 随机换位。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求值序：deny → ask → allow → fallback（默认 Ask）。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不能靠「写文档提醒顺序」—— allow * 覆盖后面的 deny rm -rf，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看起来完全正常，直到出事。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派发与权限门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ABI 三铁律在代码里的样子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plugins/sample_plugin.cpp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铁律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1：extern "C" ——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关掉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name mangling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extern "C" __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declspec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dllexport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AFPlugin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*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af_plugin_entry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(void) { return &amp;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kPlugin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; }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铁律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2：不跨边界抛异常 ——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失败走返回值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endParaRPr sz="11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char*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wordcount_execute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(const char*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argsJson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, char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*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nullptr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const std::string path =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jsonStringField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argsJson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, "path");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path.empty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()) {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if (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*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dupe("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缺少必需字段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`path`");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return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nullptr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;                       // ★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不是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throw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...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铁律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3：谁分配谁释放 ——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插件提供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freeString</a:t>
            </a:r>
            <a:endParaRPr sz="11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 const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AFToolPlugin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kWordCountTool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{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wordcount_execute</a:t>
            </a: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[](char* p) { std::free(p); },            // ★ </a:t>
            </a:r>
            <a:r>
              <a:rPr sz="11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宿主调用它来释放</a:t>
            </a:r>
            <a:endParaRPr sz="11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1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sample_plugin.cpp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里没有包含任何宿主代码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仅使用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标准库，JSON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处理由字符串查找自行实现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边界上只传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char*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派发与权限门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宿主侧：取得结果后调用插件的释放函数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tool_registry.cpp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char*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nullptr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char* raw =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e.abi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-&gt;execute(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args.dump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c_str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(), &amp;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if (!raw) {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std::string msg =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?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: "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插件返回了未知错误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e.abi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freeString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e.abi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freeString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errOut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);            // ★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用插件的释放函数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return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ToolResult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::error("", std::move(msg));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std::string content(raw);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e.abi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freeString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)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e.abi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freeString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(raw);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return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ToolResult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::ok("", std::move(content));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──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先校验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ABI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版本再使用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──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if (t-&gt;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abiVersion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!= AF_PLUGIN_ABI_VERSION) {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err = "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插件内工具的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ABI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版本不匹配</a:t>
            </a: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";</a:t>
            </a: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return false;                        // ★ </a:t>
            </a:r>
            <a:r>
              <a:rPr sz="125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拒绝加载</a:t>
            </a:r>
            <a:endParaRPr sz="125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5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宿主用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free()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释放插件的字符串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跨 CRT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堆释放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堆损坏的报错会出现在很久之后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加载时不校验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abiVersion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老插件以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UB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崩掉，且崩在插件内部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派发与权限门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7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改动清单、验收清单 10 条与 33 通过 / 0 失败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文件清单：谁复用、谁新写、谁一个字没改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验收清单 10 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构建与运行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486397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验证：33 通过 / 0 失败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Read 必须豁免落盘 —— 这属于正确性要求，而非优化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persistThresholdChars = SIZE_MAX 是豁免落盘的唯一手段。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Read 不豁免 → 「读文件 → 落盘 → 再去读那个落盘文件」成环。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判据：不做会形成循环依赖，而不只是慢一点。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ABI 三铁律：① 纯 C 结构体 ② 谁分配谁释放 ③ 不跨边界传 C++ 类型。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验证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验收清单（10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第 7 条是反证：它证明「插件工具可见」不是碰巧，而是真的来自加载动作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63470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0398" y="1298448"/>
            <a:ext cx="5086605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7003" y="1298448"/>
            <a:ext cx="5307762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0398" y="16286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模型真的去读文件，而不是猜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7003" y="16286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C1（服务端日志 [模型请求工具] Read）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0398" y="1933448"/>
            <a:ext cx="5086605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工具结果真的被回喂、并被用上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7003" y="1933448"/>
            <a:ext cx="5307762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C1（最终回答里出现 int add）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0398" y="22382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历史里存 assistant.tool_calls + tool 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7003" y="22382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C1 的 history=4 + 服务端日志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0398" y="2543048"/>
            <a:ext cx="5086605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参数缺字段被校验拦下并回喂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7003" y="2543048"/>
            <a:ext cx="5307762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0398" y="28478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未知工具回喂可用工具列表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7003" y="28478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0398" y="3152648"/>
            <a:ext cx="5086605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ABI 插件能被加载（含中文路径）并执行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7003" y="3152648"/>
            <a:ext cx="5307762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4574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0398" y="34574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未加载插件时插件工具不可见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7003" y="34574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C5（反证）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7622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0398" y="3762248"/>
            <a:ext cx="5086605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权限被拒后工具不执行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7003" y="3762248"/>
            <a:ext cx="5307762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0670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0398" y="40670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工具表顺序稳定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17003" y="4067048"/>
            <a:ext cx="530776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日志 tools=2 ['Read', 'WordCount']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718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0398" y="4371848"/>
            <a:ext cx="5086605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仍然零改动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7003" y="4371848"/>
            <a:ext cx="5307762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git diff 或与 L3 目录逐字对比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验证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构建与运行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【码】 verify.ps1 / build_plugin.ps1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cd 11-逐讲\L4-v1能读\code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.\build.ps1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cd plugins ; .\build_plugin.ps1 ; cd ..    #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先编出插件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.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dll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.\verify.ps1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──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关键一步：插件也要单独编一次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──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build_plugin.ps1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会把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sample_plugin.cpp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编成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.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dll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，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并校验导出符号名（忘了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extern "C"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的话，这里就会报出来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）。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──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服务端日志里要看的两行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──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模型请求工具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 Read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tools=2 ['Read', '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WordCount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']        ←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顺序必须字节级稳定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工具表顺序稳定是提示缓存的前提 —— 顺序变了缓存全失效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插件符号名须用 dumpbin /exports 校验，不得依赖人工比对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验证：33 通过 / 0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33 / 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verify.ps1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派发管线的出口数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0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真能加载的样例插件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1181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中文路径下的失败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55264"/>
            <a:ext cx="11057839" cy="279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插件在中文路径下加载成功，其前提是改用 LoadLibraryW。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六个出口各有对应用例；deny 段优先求值另设专门用例。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验证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8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练习与设计模式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实现题 H3，以及两组设计模式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练习 H3（实现题）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P-03 插件 + 桥接 / P-05 / P-07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P-14 / P-17 / P-18 / P-16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 H3（实现题）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给 ToolRegistry 加一个 Grep 工具，并让它通过参数校验与权限门。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注意：不要改任何已有接口签名（CR-3）—— 只新增。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8 章 · 练习与设计模式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设计模式：P-03 插件 + 桥接 ★ / P-05 / P-07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385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P-03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插件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桥接：plugin.hpp（C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ABI）+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PluginHandle（宿主侧包装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用纯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边界把「两个互不认识的编译器产物」接起来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时机问题：L2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就定下纯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ABI，但直到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L4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才第一次真写插件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lang="zh-CN" altLang="en-US"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原因：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跨编译器边界」是已识别的约束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不是「未来可能有用」的猜测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—— 和 L3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解释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IModelProvider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的理由一样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P-05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责任链：权限门的有序规则表，deny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强制排最前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P-07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命令：ToolCall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ToolResult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把「要做的事」封装成数据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8 章 · 练习与设计模式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设计模式：P-14 / P-17 / P-18 / P-16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L4 · v1 能读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P-14 RAII：Entry.pluginLib 用 shared_ptr&lt;void&gt;，PluginHandle::~ 自动释放。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动态库句柄的释放不能靠「记得调 FreeLibrary」。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P-17 空对象：NoUI（confirm 恒返回 false）。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默认必须 fail-closed —— 返回 true 会让子代理/CI 场景悄悄变成不受限。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P-18 Pimpl：以 shared_ptr&lt;void&gt; 隐藏 HMODULE，避免平台类型外泄至头文件。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P-16 工厂方法：createProvider / createHttpTransport。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8 章 · 练习与设计模式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2762</Words>
  <Application>Microsoft Office PowerPoint</Application>
  <PresentationFormat>宽屏</PresentationFormat>
  <Paragraphs>521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xs_zh</cp:lastModifiedBy>
  <cp:revision>7</cp:revision>
  <dcterms:created xsi:type="dcterms:W3CDTF">2013-01-27T09:14:16Z</dcterms:created>
  <dcterms:modified xsi:type="dcterms:W3CDTF">2026-10-08T03:33:13Z</dcterms:modified>
  <cp:category/>
</cp:coreProperties>
</file>