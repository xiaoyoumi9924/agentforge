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9" r:id="rId3"/>
    <p:sldId id="257" r:id="rId4"/>
    <p:sldId id="258" r:id="rId5"/>
    <p:sldId id="29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91" r:id="rId15"/>
    <p:sldId id="267" r:id="rId16"/>
    <p:sldId id="268" r:id="rId17"/>
    <p:sldId id="269" r:id="rId18"/>
    <p:sldId id="270" r:id="rId19"/>
    <p:sldId id="271" r:id="rId20"/>
    <p:sldId id="292" r:id="rId21"/>
    <p:sldId id="272" r:id="rId22"/>
    <p:sldId id="273" r:id="rId23"/>
    <p:sldId id="275" r:id="rId24"/>
    <p:sldId id="276" r:id="rId25"/>
    <p:sldId id="293" r:id="rId26"/>
    <p:sldId id="277" r:id="rId27"/>
    <p:sldId id="278" r:id="rId28"/>
    <p:sldId id="279" r:id="rId29"/>
    <p:sldId id="280" r:id="rId30"/>
    <p:sldId id="281" r:id="rId31"/>
    <p:sldId id="294" r:id="rId32"/>
    <p:sldId id="283" r:id="rId33"/>
    <p:sldId id="284" r:id="rId34"/>
    <p:sldId id="285" r:id="rId35"/>
    <p:sldId id="295" r:id="rId36"/>
    <p:sldId id="286" r:id="rId37"/>
    <p:sldId id="287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3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828800"/>
            <a:ext cx="922903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4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971800"/>
            <a:ext cx="922903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20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准备做</a:t>
            </a:r>
            <a:r>
              <a:rPr sz="20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什么</a:t>
            </a:r>
            <a:r>
              <a:rPr lang="zh-CN" altLang="en-US" sz="20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以及</a:t>
            </a:r>
            <a:r>
              <a:rPr sz="20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为什么这么</a:t>
            </a:r>
            <a:r>
              <a:rPr lang="zh-CN" altLang="en-US" sz="20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做</a:t>
            </a:r>
            <a:endParaRPr sz="20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4325111"/>
            <a:ext cx="922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产出：需求规格说明书 + 总体设计说明书（含 5 个 ADR）+ G1/G2 + 可编译骨架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7167" y="10058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1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问题与代价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为什么只搭骨架不写业务</a:t>
            </a:r>
            <a:r>
              <a:rPr lang="zh-CN" altLang="en-US" sz="165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？开发迭代、维护、实际应用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A32D2D"/>
                </a:solidFill>
                <a:latin typeface="Microsoft YaHei"/>
                <a:ea typeface="Microsoft YaHei"/>
                <a:cs typeface="Microsoft YaHei"/>
              </a:rPr>
              <a:t>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en-US" sz="2500" b="1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开发迭代、维护、实际应用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A32D2D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这三个问题在编写第一行代码之前即可避免 —— 所节省的是后续十一讲的时间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211567" cy="33020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lang="zh-CN" altLang="en-US" sz="13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78495" y="1298448"/>
            <a:ext cx="4423135" cy="33020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具体表现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1630" y="1298448"/>
            <a:ext cx="4423135" cy="330200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根因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221156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换模型就重写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8495" y="16286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从 OpenAI 换到 Claude，改了 200 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1630" y="16286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没有隔离「协议差异」这个变化点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2211567" cy="304800"/>
          </a:xfrm>
          <a:prstGeom prst="rect">
            <a:avLst/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加个工具就要改核心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8495" y="1933448"/>
            <a:ext cx="4423135" cy="304800"/>
          </a:xfrm>
          <a:prstGeom prst="rect">
            <a:avLst/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想加个 Grep，结果动了主循环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1630" y="1933448"/>
            <a:ext cx="4423135" cy="304800"/>
          </a:xfrm>
          <a:prstGeom prst="rect">
            <a:avLst/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工具的注册与生命周期散落在各处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221156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上下文越跑越贵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8495" y="22382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第 30 轮每轮花 2 块钱，还经常报错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1630" y="2238248"/>
            <a:ext cx="442313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没有分层、没有预算、没有压缩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1 章 · 问题与代价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A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A32D2D"/>
                </a:solidFill>
                <a:latin typeface="Microsoft YaHei"/>
                <a:ea typeface="Microsoft YaHei"/>
                <a:cs typeface="Microsoft YaHei"/>
              </a:rPr>
              <a:t>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不写任何业务逻辑 —— 两个目的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A32D2D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A32D2D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目的 1：验证工具链是通的（这是后面十一讲的前提）。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A32D2D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目的 2：建立「设计文档 → 工程结构」的对应关系。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A32D2D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现在只有 1 个源文件；到 L12 有 28 个。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「从 1 长到 28」的过程本身就是课程线索 —— 不是推倒重来。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A32D2D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但没有 namespace、没有 class、没有头文件 —— 不要提前建抽象。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接口要等 L2 想清楚再定；提前建的抽象会被后面的事实推翻。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1 章 · 问题与代价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2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背景：领域已知</a:t>
            </a:r>
            <a:r>
              <a:rPr lang="zh-CN" altLang="en-US" sz="34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内容</a:t>
            </a:r>
            <a:endParaRPr sz="34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成本、控制流、隔离、端口四条线索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背景一</a:t>
            </a:r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成本为什么是架构约束而非优化项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单轮成本由输入 token 与输出 token 构成，二者单价不同。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多轮场景下，第 n 轮需重发前 n−1 轮的全部内容：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无缓存时，累计成本随轮次近似二次增长。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启用前缀缓存后，重复前缀不再按全价计算，累计成本近似降为线性增长。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缓存命中的前提是请求前缀字节级不变，由此推出三项硬要求：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系统提示、工具列表、消息顺序必须稳定；任一处变化都会使后续全部失效。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此即 NFR-2（成本可控）的由来：它约束的是上下文的形状，不是某个参数。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背景二 · Agent 系统的三种控制流范式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选择范式就是选择「控制权交给谁」；交出控制权就必须补上约束手段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653881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0809" y="1298448"/>
            <a:ext cx="2211567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下一步由谁决定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32376" y="1298448"/>
            <a:ext cx="3096194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适用条件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28570" y="1298448"/>
            <a:ext cx="3096194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628648"/>
            <a:ext cx="265388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预定义图（DAG / workflow）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0809" y="1628648"/>
            <a:ext cx="221156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人，图须事先画定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32376" y="16286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流程固定、需可审计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28570" y="16286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无法处理未知步骤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933448"/>
            <a:ext cx="2653881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单循环（ReAct 类）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0809" y="1933448"/>
            <a:ext cx="2211567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2376" y="1933448"/>
            <a:ext cx="3096194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探索性任务，步骤不可预知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28570" y="1933448"/>
            <a:ext cx="3096194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必须外置约束：闸门、沙箱、预算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238248"/>
            <a:ext cx="265388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多智能体分工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20809" y="2238248"/>
            <a:ext cx="2211567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 + 角色划分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32376" y="22382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可并行的子任务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28570" y="22382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上下文共享与结果归并复杂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背景三 · 安全隔离的两个层次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两层都不可缺省：内核层拦得住但表达不了策略，应用层表达得了策略但拦不住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326940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层次</a:t>
            </a:r>
          </a:p>
        </p:txBody>
      </p:sp>
      <p:sp>
        <p:nvSpPr>
          <p:cNvPr id="9" name="Rectangle 8"/>
          <p:cNvSpPr/>
          <p:nvPr/>
        </p:nvSpPr>
        <p:spPr>
          <a:xfrm>
            <a:off x="1893868" y="1298448"/>
            <a:ext cx="3317351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1219" y="1298448"/>
            <a:ext cx="3317351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能否被绕过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28570" y="1298448"/>
            <a:ext cx="3096194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典型实现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628648"/>
            <a:ext cx="132694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93868" y="1628648"/>
            <a:ext cx="331735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进程内权限判断（规则表、能力表）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1219" y="1628648"/>
            <a:ext cx="331735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可绕过：同进程内任意代码可达全部资源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28570" y="16286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跨平台，需自行实现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933448"/>
            <a:ext cx="1326940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内核层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93868" y="1933448"/>
            <a:ext cx="3317351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操作系统强制访问控制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1219" y="1933448"/>
            <a:ext cx="3317351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不可绕过：限制由内核施加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28570" y="1933448"/>
            <a:ext cx="3096194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Landlock（Linux）· Seatbelt（macOS）· Job Object（Windows）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背景原理　</a:t>
            </a:r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背景四 · 跨平台约束与可替换适配器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1677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以下三类能力在不同平台上的实现完全不同：HTTP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传输、进程沙箱、终端字符编码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判据不是「会不会变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」，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而是「变化会不会来自这个模块之外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若变化来自模块之外，则该处需要定义端口（抽象接口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实现作为适配器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若变化只可能来自模块内部，定义端口只会增加间接层，不产生收益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据此定义四个端口：模型、HTTP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传输、执行沙箱、UI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背景五</a:t>
            </a:r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需求边界依据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三条共同说明：需求阶段的产出是边界与约束，不是功能清单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3317351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4279" y="1298448"/>
            <a:ext cx="4201978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6257" y="1298448"/>
            <a:ext cx="3538508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3317351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ReAct（Yao 等，ICLR 2023）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4279" y="1628648"/>
            <a:ext cx="420197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推理与动作交替：动作从环境取回观察，观察更新推理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6257" y="1628648"/>
            <a:ext cx="353850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需求边界的划法：能「说」与能「做」的分界在于是否产生动作与观察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49348"/>
            <a:ext cx="3317351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SWE-agent（Yang 等，NeurIPS 2024）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4279" y="2149348"/>
            <a:ext cx="4201978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ACI 的三条设计原则：动作简单、反馈充分、带护栏以缓解错误传播；编辑窗口过大或过小均使结果下降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6257" y="2149348"/>
            <a:ext cx="3538508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接口形状属于需求而非实现细节，必须在需求阶段定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3317351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MCP（Anthropic，2024-11；2025-12 捐给 Linux Foundation 旗下 AAIF）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84279" y="2670048"/>
            <a:ext cx="420197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为工具接入提供开放标准，复用 LSP 的消息流思路，基于 JSON-RPC 2.0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6257" y="2670048"/>
            <a:ext cx="353850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工具接入值得标准化，说明它是稳定边界而不是内部实现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背景六 · 真实系统的分层与边界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真实系统给的是取舍实例；采用与否仍回到约束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211567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8495" y="1298448"/>
            <a:ext cx="4865449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公开做法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43944" y="1298448"/>
            <a:ext cx="3980822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2211567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8495" y="1628648"/>
            <a:ext cx="4865449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请求分为系统提示与工具 / 项目上下文 / 会话上下文 / 对话消息四层，排序原则为稳定内容在前、易变内容在后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43944" y="1628648"/>
            <a:ext cx="3980822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分层是缓存前缀的工程后果，不是审美选择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49348"/>
            <a:ext cx="2211567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Model Context Protocol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8495" y="2149348"/>
            <a:ext cx="4865449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host / client / server 三分；工具与资源由 server 提供，host 负责编排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43944" y="2149348"/>
            <a:ext cx="3980822" cy="5207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与「谁持有连接、谁只提供能力」的模块划分同构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2211567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OpenHands 等开放平台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8495" y="2670048"/>
            <a:ext cx="4865449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契约层稳定之后可并存多个实现（不同模型、不同沙箱、不同界面）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43944" y="2670048"/>
            <a:ext cx="3980822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对应「契约先定、实现后补」的收益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参考 · 参考资料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完整清单见 12-课件PPT/05-参考资料.md §2 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5783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2711" y="1298448"/>
            <a:ext cx="508660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9316" y="1298448"/>
            <a:ext cx="4865449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lang="zh-CN" altLang="en-US" sz="13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价值点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2711" y="16286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Yao 等《ReAct》ICLR 2023（arXiv:2210.03629）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9316" y="16286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agent 的形态定义：推理与动作为什么交替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110578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2711" y="1933448"/>
            <a:ext cx="508660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Yang 等《SWE-agent》NeurIPS 2024（arXiv:2405.15793）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9316" y="1933448"/>
            <a:ext cx="4865449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为什么接口形状属于需求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标准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72711" y="22382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Model Context Protocol（Anthropic，2024-11）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9316" y="22382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工具接入为什么值得标准化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110578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2711" y="2543048"/>
            <a:ext cx="508660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端口与适配器（六边形架构，Cockburn）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9316" y="2543048"/>
            <a:ext cx="4865449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「变化是否来自模块之外」这一判据的出处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478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72711" y="2847848"/>
            <a:ext cx="508660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《Designing Data-Intensive Applications》第 1 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9316" y="28478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分层与可演化性的系统叙述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152648"/>
            <a:ext cx="110578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72711" y="3152648"/>
            <a:ext cx="508660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Claude Code 的请求分层；OpenHands 的多实现并存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59316" y="3152648"/>
            <a:ext cx="4865449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分层与契约稳定的实际收益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背景如何落到正文：已知机制 → 正文的哪一处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6E6E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背景不是铺垫：正文的每一步，都对应一个已有明确机制的领域问题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3759665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背景里的机制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6593" y="1298448"/>
            <a:ext cx="7298173" cy="330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落在正文哪一处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86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成本随轮次二次增长（背景一）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6593" y="16286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NFR-2 与 ADR-5：上下文分层组装 + 预算 + 降级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9334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控制流范式（背景二）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6593" y="19334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ADR-1：控制权交给模型，故必须外置闸门与沙箱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2382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安全隔离的两个层次（背景三）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6593" y="22382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ADR-4：应用层权限门只是第一道，边界落到内核层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5430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变化是否来自模块之外（背景四）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6593" y="25430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四个端口：模型、HTTP 传输、执行沙箱、UI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478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接口形状属于需求（背景五）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6593" y="2847848"/>
            <a:ext cx="729817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ADR-2：工具是原语不是集成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152648"/>
            <a:ext cx="3759665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真实系统的分层（背景六）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6593" y="3152648"/>
            <a:ext cx="7298173" cy="304800"/>
          </a:xfrm>
          <a:prstGeom prst="rect">
            <a:avLst/>
          </a:prstGeom>
          <a:solidFill>
            <a:srgbClr val="E2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分层策略与依赖方向：稳定内容在前、易变内容在后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2 章 · 背景：这个领域已知什么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3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需求的边界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65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界定</a:t>
            </a:r>
            <a:r>
              <a:rPr sz="165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65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排除</a:t>
            </a:r>
            <a:r>
              <a:rPr lang="en-US" altLang="zh-CN" sz="165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非功能需求与现实约束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altLang="zh-CN"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</a:t>
            </a:r>
            <a:r>
              <a:rPr lang="zh-CN" altLang="en-US"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的行为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1105783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动词</a:t>
            </a:r>
          </a:p>
        </p:txBody>
      </p:sp>
      <p:sp>
        <p:nvSpPr>
          <p:cNvPr id="8" name="Rectangle 7"/>
          <p:cNvSpPr/>
          <p:nvPr/>
        </p:nvSpPr>
        <p:spPr>
          <a:xfrm>
            <a:off x="1672711" y="1298448"/>
            <a:ext cx="3759665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32376" y="1298448"/>
            <a:ext cx="3096194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对应能力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28570" y="1298448"/>
            <a:ext cx="3096194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lang="zh-CN" altLang="en-US" sz="13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缺失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观测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2711" y="16286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看到真实世界（文件内容、命令输出、目录结构）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32376" y="16286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工具（只读）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8570" y="16286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模型只能猜，开始幻觉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1933448"/>
            <a:ext cx="1105783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72711" y="1933448"/>
            <a:ext cx="3759665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改变真实世界（写文件、跑命令）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32376" y="1933448"/>
            <a:ext cx="309619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工具（写/执行）+ 权限 + 沙箱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28570" y="1933448"/>
            <a:ext cx="309619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只是个聊天机器人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2382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继续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72711" y="22382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根据结果决定下一步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32376" y="22382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循环 + 上下文管理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28570" y="22382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一步就停，无法完成多步任务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需求的边界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边界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2274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聊天机器人：不改变环境（界面看起来一样，都是打字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Workflow / DAG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编排：决定下一步的是人，图要先画好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RAG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检索系统：只读知识库，不写文件、不跑命令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多智能体平台：子代理只是隔离上下文的手段，不是目的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分界线：谁决定下一步动作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lang="en-US" altLang="zh-CN"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交出控制权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要有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约束手段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闸门与沙箱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需求的边界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en-US"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不同</a:t>
            </a:r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产品：不同</a:t>
            </a:r>
            <a:r>
              <a:rPr lang="zh-CN" altLang="en-US"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方案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最大分歧不是功能，是「安全边界放在应用层还是内核层」—— 本课两者都要（ADR-4）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769254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36182" y="1298448"/>
            <a:ext cx="3096194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32376" y="1298448"/>
            <a:ext cx="3096194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Codex CLI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28570" y="1298448"/>
            <a:ext cx="3096194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628648"/>
            <a:ext cx="1769254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安全策略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182" y="1628648"/>
            <a:ext cx="3096194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应用层权限门，危险操作弹窗问人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32376" y="1628648"/>
            <a:ext cx="3096194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OS 级沙箱（Landlock / Seatbelt），尽量不问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28570" y="1628648"/>
            <a:ext cx="3096194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几乎没有执行能力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49348"/>
            <a:ext cx="176925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上下文策略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6182" y="2149348"/>
            <a:ext cx="309619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压缩 + 微压缩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2376" y="2149348"/>
            <a:ext cx="309619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会话窗口 + 摘要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28570" y="2149348"/>
            <a:ext cx="309619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repo map（tree-sitter + PageRank）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4541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编辑策略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6182" y="24541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精确字符串替换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32376" y="24541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补丁式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28570" y="24541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diff 块，强制格式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758948"/>
            <a:ext cx="176925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通用 Bash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6182" y="2758948"/>
            <a:ext cx="309619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32376" y="2758948"/>
            <a:ext cx="309619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28570" y="2758948"/>
            <a:ext cx="3096194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063748"/>
            <a:ext cx="176925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核心取舍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6182" y="30637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灵活 ↔ 安全靠人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32376" y="30637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自动化 ↔ 安全靠内核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28570" y="3063748"/>
            <a:ext cx="3096194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精确可控 ↔ 能力受限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需求的边界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非功能需求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1677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NFR-1 不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能搞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破坏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违反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即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出局</a:t>
            </a:r>
            <a:endParaRPr sz="17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权限门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沙箱不是「完善功能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」，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是「准入条件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」。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NFR-2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成本可控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——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违反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但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可能会被逐步淘汰</a:t>
            </a:r>
            <a:endParaRPr sz="17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lang="zh-CN" altLang="en-US"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衍生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提示缓存（前缀字节级稳定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）/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分层预算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压缩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共同点：都不是功能，但都会直接改变架构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需求的边界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约束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185FA5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C-4 看着琐碎，在中文环境里是第一号事故源 —— L3 会真的踩一次 type_error.316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653881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0809" y="1298448"/>
            <a:ext cx="3538508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数值 / 现象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9317" y="1298448"/>
            <a:ext cx="4865449" cy="33020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设计后果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265388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C-1 上下文是硬上限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0809" y="1628648"/>
            <a:ext cx="353850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128K ~ 200K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9317" y="16286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必须有预算与压缩，不能全塞进去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2653881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C-2 </a:t>
            </a:r>
            <a:r>
              <a:rPr sz="125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模型会犯错</a:t>
            </a:r>
            <a:endParaRPr sz="125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20809" y="1933448"/>
            <a:ext cx="3538508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幻觉函数名、改错文件、重复调用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9317" y="1933448"/>
            <a:ext cx="4865449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失败必须</a:t>
            </a:r>
            <a:r>
              <a:rPr lang="zh-CN" altLang="en-US" sz="125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可观察、</a:t>
            </a:r>
            <a:r>
              <a:rPr sz="125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可恢复</a:t>
            </a:r>
            <a:endParaRPr sz="125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265388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C-3 工具输出可能巨大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20809" y="2238248"/>
            <a:ext cx="353850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一次 cat 输出 60K 字符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9317" y="22382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必须有落盘 + 预览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2653881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C-4 输出编码可能非法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20809" y="2543048"/>
            <a:ext cx="3538508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中文 Windows 上混着 GBK 文件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9317" y="2543048"/>
            <a:ext cx="4865449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外部字节在进入上下文前须经净化处理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847848"/>
            <a:ext cx="265388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C-5 网络会断、会限流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20809" y="2847848"/>
            <a:ext cx="353850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429 / 502 / 超时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59317" y="28478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必须有重试、退避、超时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152648"/>
            <a:ext cx="2653881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C-6 跨平台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20809" y="3152648"/>
            <a:ext cx="3538508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Windows / Linux / macOS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59317" y="3152648"/>
            <a:ext cx="4865449" cy="304800"/>
          </a:xfrm>
          <a:prstGeom prst="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传输层与沙箱都要可替换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3 章 · 需求的边界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4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架构决策与分层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先用两张图定边界，再定架构风格，最后给出五个 ADR 与分层策略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G1 用例图 —— 谁用它，用来干什么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7" name="Picture 6" descr="G01-use-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5741"/>
            <a:ext cx="6903720" cy="4520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81544" y="1298448"/>
            <a:ext cx="3843223" cy="2192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UC3（批准危险操作）是「约束」关系（虚线），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不是普通用例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lang="en-US" altLang="zh-CN"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权限门必须能被循环内部的任意一步调用，不能只在入口检查一次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参与者有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3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个，但界面只有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1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种实现（终端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lang="en-US" altLang="zh-CN"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lang="en-US" altLang="zh-CN" sz="150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核心不能依赖任何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UI，直接推IUIPort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这个端口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G01 · 01-图表库/G01-use-case.mmd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架构决策与分层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G2 系统上下文图 —— 边界画在哪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7" name="Picture 6" descr="G02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547" y="1298448"/>
            <a:ext cx="7854601" cy="3713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121402"/>
            <a:ext cx="3503066" cy="931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四个外部系统均不在本系统控制范围内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Shell / 子进程：可以执行任意代码，输出不可信赖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4314" y="5121402"/>
            <a:ext cx="3503066" cy="931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模型 API：协议不统一、会限流、会超时</a:t>
            </a:r>
          </a:p>
          <a:p>
            <a:pPr>
              <a:spcAft>
                <a:spcPts val="900"/>
              </a:spcAft>
            </a:pPr>
            <a:r>
              <a:rPr sz="1300" b="0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网络：可能中断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1700" y="5121402"/>
            <a:ext cx="3503066" cy="5155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0" i="0" dirty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3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文件系统</a:t>
            </a:r>
            <a:r>
              <a:rPr sz="13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3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Git：可能被并发修改</a:t>
            </a:r>
            <a:endParaRPr sz="13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lang="en-US" altLang="zh-CN" sz="13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3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每一个都要有一个端口隔离</a:t>
            </a:r>
            <a:endParaRPr sz="13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G02 · 01-图表库/G02-context.mmd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架构决策与分层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五个关键架构决策（ADR-1 … ADR-5）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格式固定：背景 / 决策 / 理由 / 后果 / 否决的替代方案。哪个 ADR 没有代价，说明还没想清楚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1105783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2711" y="1298448"/>
            <a:ext cx="3759665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32376" y="1298448"/>
            <a:ext cx="3538508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理由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70884" y="1298448"/>
            <a:ext cx="2653881" cy="330200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否决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6928" y="16286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ADR-1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2711" y="16286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上下文用扁平消息列表，控制流由模型驱动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32376" y="1628648"/>
            <a:ext cx="353850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探索性任务里，图是产物不是输入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884" y="1628648"/>
            <a:ext cx="265388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DAG 编排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933448"/>
            <a:ext cx="1105783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ADR-2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72711" y="1933448"/>
            <a:ext cx="3759665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工具是原语（Read/Write/Edit/Bash），不是集成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2376" y="1933448"/>
            <a:ext cx="3538508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N </a:t>
            </a:r>
            <a:r>
              <a:rPr sz="125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个原语组合出无限行为；集成会</a:t>
            </a:r>
            <a:r>
              <a:rPr lang="zh-CN" altLang="en-US" sz="125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失效</a:t>
            </a:r>
            <a:endParaRPr sz="125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970884" y="1933448"/>
            <a:ext cx="2653881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给每个生态写专用工具</a:t>
            </a:r>
            <a:endParaRPr sz="125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6928" y="2238248"/>
            <a:ext cx="1105783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ADR-3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72711" y="2238248"/>
            <a:ext cx="3759665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插件接口是纯 C ABI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32376" y="2238248"/>
            <a:ext cx="3538508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C++ 没有稳定 ABI，跨边界传 C++ 类型是 UB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0884" y="2238248"/>
            <a:ext cx="2653881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C++ 虚基类跨库、进程外插件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43048"/>
            <a:ext cx="1105783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ADR-4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72711" y="2543048"/>
            <a:ext cx="3759665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安全边界落到内核层，权限门只是第一道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32376" y="2543048"/>
            <a:ext cx="3538508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应用层路径检查可被绕过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70884" y="2543048"/>
            <a:ext cx="2653881" cy="304800"/>
          </a:xfrm>
          <a:prstGeom prst="rect">
            <a:avLst/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字符串黑名单、纯容器方案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47848"/>
            <a:ext cx="1105783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ADR-5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72711" y="2847848"/>
            <a:ext cx="3759665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上下文分层组装 + 预算 + 降级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32376" y="2847848"/>
            <a:ext cx="3538508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不同层变化频率差几个数量级，混在一起缓存永不命中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70884" y="2847848"/>
            <a:ext cx="2653881" cy="52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全部塞进 messages、纯滑动窗口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架构决策与分层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6B4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F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分层策略与依赖方向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2033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三层，依赖方向单向：交互执行层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核心智能层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基础设施层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权限门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沙箱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会话存储</a:t>
            </a:r>
            <a:endParaRPr lang="zh-CN" altLang="en-US" sz="17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zh-CN" altLang="en-US"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</a:t>
            </a:r>
            <a:r>
              <a:rPr lang="en-US" altLang="zh-CN"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– </a:t>
            </a:r>
            <a:r>
              <a:rPr lang="zh-CN" altLang="en-US"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必须落在基础设施层 </a:t>
            </a:r>
            <a:r>
              <a:rPr lang="en-US" altLang="zh-CN"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—— </a:t>
            </a:r>
            <a:r>
              <a:rPr lang="zh-CN" altLang="en-US"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判据是「它依赖什么、知道什么」。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沙箱要调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OS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原语；权限门只认识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(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ToolDef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,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args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)；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会话存储只知道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JSONL。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6B4FBB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检验方法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选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一个模块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看是否依赖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UI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（知道</a:t>
            </a:r>
            <a:r>
              <a:rPr lang="en-US" altLang="zh-CN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UI</a:t>
            </a:r>
            <a:r>
              <a:rPr lang="zh-CN" altLang="en-US"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7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若答案为「知道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」，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则分层已被破坏。该判据在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L9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引入终端界面时同样适用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4 章 · 架构决策与分层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5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骨架实现与验收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代码目标是工程能编译</a:t>
            </a:r>
            <a:r>
              <a:rPr lang="en-US" altLang="zh-CN" sz="165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lang="zh-CN" altLang="en-US" sz="165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四条</a:t>
            </a:r>
            <a:r>
              <a:rPr sz="165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验收清单</a:t>
            </a:r>
            <a:endParaRPr sz="1650" b="0" i="0" dirty="0">
              <a:solidFill>
                <a:srgbClr val="5F63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F01 · main() 骨架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pic>
        <p:nvPicPr>
          <p:cNvPr id="7" name="Picture 6" descr="F01-main-skele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1034"/>
            <a:ext cx="6903720" cy="47097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81544" y="1298448"/>
            <a:ext cx="3843223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lang="zh-CN" altLang="en-US"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核心目标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让工程能编译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解析参数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→ 建 provider →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打印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13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模块三层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退出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打印出来的模块清单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=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设计的可执行形式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6035040"/>
            <a:ext cx="11057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F01 · 源文件：L1-需求与总体设计/skeleton/main.cpp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骨架实现与验收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374567"/>
            <a:ext cx="8680399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关键代码：控制台是</a:t>
            </a:r>
            <a:r>
              <a:rPr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GBK —— </a:t>
            </a:r>
            <a:r>
              <a:rPr sz="2500" b="1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中文乱码的</a:t>
            </a:r>
            <a:r>
              <a:rPr lang="zh-CN" altLang="en-US" sz="2500" b="1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根源</a:t>
            </a:r>
            <a:endParaRPr sz="2500" b="1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【码】 skeleton/main.cpp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★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控制台默认代码页是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GBK，不是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UTF-8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  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不加这一行，后面十一讲的中文输出全是乱码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，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  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排查常被引导至字体、终端或编码转换函数，均无法定位根因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。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int main() {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SetConsoleOutputCP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(CP_UTF8);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SetConsoleCP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(CP_UTF8);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std::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cout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&lt;&lt; u8"AgentForge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骨架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\n";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printModules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();      // 13 </a:t>
            </a:r>
            <a:r>
              <a:rPr sz="1300" b="0" i="0" dirty="0" err="1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模块</a:t>
            </a: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3 层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return 0;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684" y="6230520"/>
            <a:ext cx="2638573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Windows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宽字符问题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骨架实现与验收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目录结构：现在只有 1 个源文件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【码】 skeleton/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agentforge/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CMakeLists.txt          ← 保留，供其它环境使用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├── build.ps1               ← Windows 一键构建（直接调 cl.exe）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└── src/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└── main.cpp            ← 只打印 hello + 三层模块清单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注意：现在只有 1 个源文件。后面每一讲往里加，到 L12 有 28 个。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★ 没有 namespace / class / 头文件 —— 不要提前建抽象，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//   接口要等 L2 想清楚再定。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1298448"/>
            <a:ext cx="4254703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在本机不可用（VS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2026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工具集识别问题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统一走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build.ps1：自动探测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MSVC、加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/utf-8、/W3、C++20</a:t>
            </a:r>
          </a:p>
          <a:p>
            <a:pPr>
              <a:spcAft>
                <a:spcPts val="900"/>
              </a:spcAft>
            </a:pPr>
            <a:r>
              <a:rPr sz="1500" b="0" i="0" dirty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仓库里仍保留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CMakeLists.txt ——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工具链约束</a:t>
            </a:r>
            <a:r>
              <a:rPr sz="15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 ≠ </a:t>
            </a:r>
            <a:r>
              <a:rPr sz="15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设计约束</a:t>
            </a:r>
            <a:endParaRPr sz="1500" b="0" i="0" dirty="0">
              <a:solidFill>
                <a:srgbClr val="20212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骨架实现与验收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构建三步与预期输出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0F7B4F"/>
                </a:solidFill>
                <a:latin typeface="Microsoft YaHei"/>
                <a:ea typeface="Microsoft YaHei"/>
                <a:cs typeface="Microsoft YaHei"/>
              </a:rPr>
              <a:t>【码】 build.ps1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492240" cy="4407408"/>
          </a:xfrm>
          <a:prstGeom prst="roundRect">
            <a:avLst>
              <a:gd name="adj" fmla="val 2000"/>
            </a:avLst>
          </a:prstGeom>
          <a:solidFill>
            <a:srgbClr val="F6F8F7"/>
          </a:solidFill>
          <a:ln w="12700">
            <a:solidFill>
              <a:srgbClr val="DAD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64592" rIns="256032" bIns="164592" rtlCol="0" anchor="ctr"/>
          <a:lstStyle/>
          <a:p>
            <a:pPr algn="ctr"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cd 11-逐讲/L1-需求与总体设计/skeleton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.\build.ps1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.\build\agentforge.exe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── 预期输出 ──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AgentForge v0.1 —— 骨架就绪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交互执行层：⑥ 工具调用与执行 · ⑪ UI 与交互 · ⑬ 测试与评估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核心智能层：⑦ Agent 循环 · ② 多模型适配 · ④ 上下文组装 ·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③ 仓库索引 · ⑤ 增量状态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基础设施层：① 插件管理 · ⑧ 安全与权限 · ⑨ 可观测性 ·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           ⑩ 配置 · ⑫ 持久化与记忆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300" b="0" i="0">
                <a:solidFill>
                  <a:srgbClr val="202124"/>
                </a:solidFill>
                <a:latin typeface="Consolas"/>
                <a:ea typeface="Consolas"/>
                <a:cs typeface="Consolas"/>
              </a:rPr>
              <a:t>依赖方向：交互执行 → 核心智能 → 基础设施（单向）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骨架实现与验收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验收清单（4 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B35C00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99632"/>
            <a:ext cx="703447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★ 第 4 条是真正的门槛 —— 说不出「为什么不」，等于没做决策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663470" cy="330200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0398" y="1298448"/>
            <a:ext cx="4865449" cy="330200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298448"/>
            <a:ext cx="5528919" cy="330200"/>
          </a:xfrm>
          <a:prstGeom prst="rect">
            <a:avLst/>
          </a:prstGeom>
          <a:solidFill>
            <a:srgbClr val="B3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lang="zh-CN" altLang="en-US" sz="1300" b="1" i="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  <a:endParaRPr sz="1300" b="1" i="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1628648"/>
            <a:ext cx="66347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0398" y="16286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能编译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1628648"/>
            <a:ext cx="552891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build.ps1 输出 [OK]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33448"/>
            <a:ext cx="663470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0398" y="1933448"/>
            <a:ext cx="4865449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能运行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1933448"/>
            <a:ext cx="5528919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看到预期输出，且中文不乱码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38248"/>
            <a:ext cx="66347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0398" y="2238248"/>
            <a:ext cx="486544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能画 G1 / G2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847" y="2238248"/>
            <a:ext cx="5528919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用自己的项目画一遍，说得出边界在哪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43048"/>
            <a:ext cx="663470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0398" y="2543048"/>
            <a:ext cx="4865449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能说出 5 个 ADR 的理由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5847" y="2543048"/>
            <a:ext cx="5528919" cy="304800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ctr"/>
            <a:r>
              <a:rPr sz="12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抽一个 ADR，说出「为什么不选被否决的那个方案」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5 章 · 骨架实现与验收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6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练习与设计模式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一道分层的思考题，以及 P-01 与 P-02 两个模式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思考题 T1：撤销上一步该归属哪一层 —— 判据不是「谁调用它」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P-01 分层：依赖方向单向，types.hpp 在最底层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065774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P-02 端口与适配器：端口是给模块边界之外的第二个实现者用的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思考题 T1（课堂讨论）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为该系统增加「撤销上一步」功能时，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该模块应归属哪一层？判据是什么？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提示：先回答「它依赖什么、知道什么」，再回答「放哪层」。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★ 判据不是「谁调用它」—— 该判据在全课反复使用。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练习与设计模式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设计模式：P-01 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1982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P-01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分层：依赖方向单向，下层不知道上层存在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核心层不知道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UI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存在（它只知道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IUIPort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这个抽象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核心层不知道沙箱怎么实现（它只知道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ISandbox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 dirty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types.hpp </a:t>
            </a:r>
            <a:r>
              <a:rPr sz="1400" b="0" i="0" dirty="0" err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在最底层：谁都能依赖它，它不依赖任何人</a:t>
            </a:r>
            <a:r>
              <a:rPr sz="14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层归属的判据与可操作的检验方法见「分层策略与依赖方向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」。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 dirty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700" b="0" i="0" dirty="0" err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该判据在全课反复使用</a:t>
            </a:r>
            <a:r>
              <a:rPr sz="1700" b="0" i="0" dirty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练习与设计模式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设计模式：P-02 端口与适配器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P-02 端口与适配器：端口是给「模块边界之外的第二个实现者」用的。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判据：不是「它将来会不会变」，而是「变化会不会来自这个模块之外」。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第一次出现，后面十一讲会反复用到。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反例：符号抽取 / 渲染器在本课里不用端口 —— 变化不会来自模块之外。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不用端口不是偷懒：为不会变化的东西建抽象，是另一种成本。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6 章 · 练习与设计模式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1567" y="1234440"/>
            <a:ext cx="27432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200" b="1" i="0">
                <a:solidFill>
                  <a:srgbClr val="E8EFF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0B3D68"/>
                </a:solidFill>
                <a:latin typeface="Microsoft YaHei"/>
                <a:ea typeface="Microsoft YaHei"/>
                <a:cs typeface="Microsoft YaHei"/>
              </a:rPr>
              <a:t>第 7 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73087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4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常见错误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8223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分层与判据、ABI 与成本两类高频错误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3913632"/>
            <a:ext cx="1005840" cy="36576"/>
          </a:xfrm>
          <a:prstGeom prst="rect">
            <a:avLst/>
          </a:prstGeom>
          <a:solidFill>
            <a:srgbClr val="0B3D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4224528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常见错误（一）：分层与判据 —— 判据错用成「谁调用它」；ADR 只写收益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45151"/>
            <a:ext cx="858895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▪  常见错误（二）：ABI 与成本 —— 以为 C++ 有稳定 ABI；把成本当优化项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常见错误（一）：分层与判据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把权限门放进交互执行层 —— 判据错用成「谁调用它」。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正确判据是「它依赖什么、知道什么」：沙箱调 OS 原语，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40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　　– </a:t>
            </a:r>
            <a:r>
              <a:rPr sz="14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权限门只认识 (ToolDef, args)，会话存储只认识 JSONL。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ADR 只写收益不写代价 —— 其性质近于宣传材料，而非设计文档。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常见错误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329184"/>
            <a:ext cx="786384" cy="292608"/>
          </a:xfrm>
          <a:prstGeom prst="roundRect">
            <a:avLst>
              <a:gd name="adj" fmla="val 2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237744"/>
            <a:ext cx="868039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500" b="1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常见错误（二）：ABI 与成本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1567" y="256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50" b="1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L1 · 需求与总体设计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807" y="619963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AA0A6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1057839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以为 C++ 有稳定 ABI —— 跨动态库传 C++ 类型是 UB。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把「成本」当优化项 —— 它决定产品能不能活，不是「以后再说」。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提前建抽象（namespace / class / 头文件）—— L2 会把它推翻。</a:t>
            </a:r>
          </a:p>
          <a:p>
            <a:pPr>
              <a:spcBef>
                <a:spcPts val="200"/>
              </a:spcBef>
              <a:spcAft>
                <a:spcPts val="900"/>
              </a:spcAft>
            </a:pPr>
            <a:r>
              <a:rPr sz="170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▪  </a:t>
            </a:r>
            <a:r>
              <a:rPr sz="1700" b="0" i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★ 平台差异说「以后统一处理」—— 到那时候已经改不动了。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84287" y="619963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第 7 章 · 常见错误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1937</Words>
  <Application>Microsoft Office PowerPoint</Application>
  <PresentationFormat>宽屏</PresentationFormat>
  <Paragraphs>506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2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xs_zh</cp:lastModifiedBy>
  <cp:revision>9</cp:revision>
  <dcterms:created xsi:type="dcterms:W3CDTF">2013-01-27T09:14:16Z</dcterms:created>
  <dcterms:modified xsi:type="dcterms:W3CDTF">2026-10-08T03:33:22Z</dcterms:modified>
  <cp:category/>
</cp:coreProperties>
</file>