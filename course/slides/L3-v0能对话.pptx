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1" r:id="rId3"/>
    <p:sldId id="29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93" r:id="rId12"/>
    <p:sldId id="265" r:id="rId13"/>
    <p:sldId id="266" r:id="rId14"/>
    <p:sldId id="294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9" r:id="rId23"/>
    <p:sldId id="296" r:id="rId24"/>
    <p:sldId id="280" r:id="rId25"/>
    <p:sldId id="281" r:id="rId26"/>
    <p:sldId id="282" r:id="rId27"/>
    <p:sldId id="283" r:id="rId28"/>
    <p:sldId id="297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828800"/>
            <a:ext cx="922903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971800"/>
            <a:ext cx="922903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先让</a:t>
            </a:r>
            <a:r>
              <a:rPr lang="en-US" altLang="zh-CN" sz="20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AF</a:t>
            </a:r>
            <a:r>
              <a:rPr sz="20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说出第一句话</a:t>
            </a:r>
            <a:endParaRPr sz="20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4325111"/>
            <a:ext cx="922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产出：sse_parser + providers + http_winhttp + main（v0 CLI）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672583"/>
            <a:ext cx="922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验证：15 通过 / 0 失败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7167" y="1005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L3 · v0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1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65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初级会话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把一句话发给模型，并把回答一个字一个字地显示出来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★ 代码量不大，但它决定了后面所有「流式」行为的形状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2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</a:t>
            </a:r>
            <a:r>
              <a:rPr sz="34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34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已知</a:t>
            </a:r>
            <a:r>
              <a:rPr sz="34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领域</a:t>
            </a:r>
            <a:r>
              <a:rPr lang="zh-CN" altLang="en-US" sz="34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内容</a:t>
            </a:r>
            <a:endParaRPr sz="34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流式传输、协议结构、token 计量三条线索，以及它们各自落在正文的哪一处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背景一 · HTTP 流式传输与 SSE 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最后一行是全部分帧缺陷的共同来源：事件边界与传输分块边界不重合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548097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2115025" y="1298448"/>
            <a:ext cx="4201978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7003" y="1298448"/>
            <a:ext cx="5307762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对实现的约束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154809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媒体类型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15025" y="1628648"/>
            <a:ext cx="420197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Content-Type: text/event-stream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17003" y="1628648"/>
            <a:ext cx="530776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响应为持续字节流，不是一次性报文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1548097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报文单位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15025" y="1933448"/>
            <a:ext cx="4201978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事件块，以空行分隔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7003" y="1933448"/>
            <a:ext cx="530776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分隔符为 \n\n 或 \r\n\r\n，须分别查找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154809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5025" y="2238248"/>
            <a:ext cx="420197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data / event / id / retry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7003" y="2238248"/>
            <a:ext cx="530776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本实现仅解析 data 字段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1548097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注释行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15025" y="2543048"/>
            <a:ext cx="4201978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以冒号开头的行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7003" y="2543048"/>
            <a:ext cx="530776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合法且必须跳过，不得当作事件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154809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15025" y="2847848"/>
            <a:ext cx="420197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服务端关闭连接或发送 [DONE]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7003" y="2847848"/>
            <a:ext cx="530776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须以显式标记或连接关闭判定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52648"/>
            <a:ext cx="1548097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传输分块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15025" y="3152648"/>
            <a:ext cx="4201978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HTTP 层可在任意位置切分字节流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7003" y="3152648"/>
            <a:ext cx="530776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解析缓冲必须跨调用保留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背景二 · Chat Completions 协议结构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delta 是增量而非全量：任何字段都必须在整个流上累积，不可按块独立解释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875038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1966" y="1298448"/>
            <a:ext cx="1769254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1220" y="1298448"/>
            <a:ext cx="6413546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messages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1966" y="16286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请求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1220" y="1628648"/>
            <a:ext cx="6413546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角色序列：system / user / assistant /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2875038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1966" y="1933448"/>
            <a:ext cx="176925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请求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1220" y="1933448"/>
            <a:ext cx="6413546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工具定义列表，参数以 JSON Schema 描述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stream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1966" y="22382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请求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1220" y="2238248"/>
            <a:ext cx="6413546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是否以流式返回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2875038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stream_options.include_usage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41966" y="2543048"/>
            <a:ext cx="176925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请求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1220" y="2543048"/>
            <a:ext cx="6413546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流式下是否返回用量统计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choices[0].delta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1966" y="28478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流式响应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1220" y="2847848"/>
            <a:ext cx="6413546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本块相对上一块的增量内容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52648"/>
            <a:ext cx="2875038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choices[0].finish_reason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1966" y="3152648"/>
            <a:ext cx="176925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响应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1220" y="3152648"/>
            <a:ext cx="6413546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stop / length / tool_calls / content_filter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4574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usage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41966" y="34574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响应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1220" y="3457448"/>
            <a:ext cx="6413546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prompt_tokens 与 completion_tokens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背景原理　</a:t>
            </a:r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背景三 · token 计量与用量统计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token 与字符之间不存在固定换算比；中文通常一字约为 1–2 token。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本实现按 字符数 ÷ 4 估算 token 数，属估算而非精确值，须在文档中明示。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流式响应默认不返回 usage，必须在请求中显式指定 include_usage。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服务端自报的 usage 与实际收到的内容可能不一致，不能作为内容判据。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内容判据应取自实际收到的字节数或文本长度，即服务端真实收到的量。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背景四</a:t>
            </a:r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流式与计量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三条共同说明：协议细节是正确性的一部分，不是兼容性细节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3096194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3663122" y="1298448"/>
            <a:ext cx="442313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6257" y="1298448"/>
            <a:ext cx="3538508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3096194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Server-Sent Events（HTML / WHATWG 规范）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63122" y="1628648"/>
            <a:ext cx="4423135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 `text/event-stream` 传输，事件以空行分隔，字段以 `data:` 起始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6257" y="1628648"/>
            <a:ext cx="353850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帧分隔符必须分别查找 CRLF 与 LF —— 前者不含后者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49348"/>
            <a:ext cx="3096194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OpenAI 流式接口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63122" y="2149348"/>
            <a:ext cx="4423135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 `data:` 逐块下发，以 `[DONE]` 结束；用量需显式请求后才返回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6257" y="2149348"/>
            <a:ext cx="3538508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不显式请求用量就拿不到计量，不能靠服务端自报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3096194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Anthropic Messages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63122" y="2670048"/>
            <a:ext cx="4423135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流式事件带类型；system 提至顶层；工具结果折进 user；角色严格交替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6257" y="2670048"/>
            <a:ext cx="353850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同一能力在不同协议下形状不同，形状差异必须由适配器吸收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背景五 · 真实系统的流式差异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差异不是「谁更好」，而是「适配器必须逐项对照」，否则行为静默错误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769254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6182" y="1298448"/>
            <a:ext cx="4644292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一种做法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0474" y="1298448"/>
            <a:ext cx="4644292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另一种做法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结束标记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6182" y="16286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 `[DONE]` 收尾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80474" y="16286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以事件类型标记结束，无独立结束块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176925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6182" y="19334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需显式 `stream_options.include_usage`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0474" y="19334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由开始与增量事件携带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角色约束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182" y="22382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允许连续同角色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80474" y="22382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严格交替，连续两条同角色即被拒绝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176925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工具结果位置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6182" y="25430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作为独立角色消息，以调用标识配对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0474" y="25430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折进 user 消息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参考 · 参考资料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完整清单见 12-课件PPT/05-参考资料.md §2 L3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5783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2711" y="1298448"/>
            <a:ext cx="508660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9316" y="1298448"/>
            <a:ext cx="4865449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lang="zh-CN" altLang="en-US"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答案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2711" y="16286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HTML / WHATWG Server-Sent Events 规范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9316" y="16286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事件以什么分隔、字段如何组织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110578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官方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2711" y="1933448"/>
            <a:ext cx="508660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OpenAI Streaming API 文档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9316" y="1933448"/>
            <a:ext cx="4865449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结束标记与用量为何需显式请求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官方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72711" y="22382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Anthropic Messages API 与流式事件文档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9316" y="22382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system 位置、角色交替、用量事件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110578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2711" y="2543048"/>
            <a:ext cx="508660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RFC 9112（HTTP/1.1 消息语法与连接管理）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9316" y="2543048"/>
            <a:ext cx="4865449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流式与连接、超时的关系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72711" y="28478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各家服务端对同一能力的形状差异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9316" y="28478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适配器需要覆盖哪些维度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背景如何落到正文：已知机制 → 正文的哪一处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背景不是铺垫：正文的每一步，都对应一个已有明确机制的领域问题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375966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背景里的机制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6593" y="1298448"/>
            <a:ext cx="7298173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落在正文哪一处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86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事件以空行分隔（背景一）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6593" y="16286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伪码 P2：帧分隔符分别查找 LF 对与 CRLF 对，取更早者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334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HTTP 层可在任意位置切分（背景一）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6593" y="19334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buffer 必须是类成员；F03 分帧状态机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2382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delta 是增量而非全量（背景二）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6593" y="22382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textAcc 自己累积一份；渲染状态不等于会话状态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430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用量需显式请求（背景三）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6593" y="25430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stream_options.include_usage；不得以服务端自报值为判据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478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同一能力形状不同（背景四）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6593" y="28478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P-09 适配器：协议差异由适配器吸收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1526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结束标记与角色约束不同（背景五）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6593" y="31526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L4 引入第二种协议后才体现的取舍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3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概念与边界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一次模型调用的最小要素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4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最小要素：消息列表、模型名、回调</a:t>
            </a:r>
            <a:endParaRPr sz="145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★ onChunk 返回 bool：因为「看到一半想停」是真实需求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065774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非流式与流式的四项对照：流式的价值是能不能用，不只是体验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486397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v0 的边界：不读文件、不跑命令、不循环、不压缩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一次模型调用的最小要素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1982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一次调用只需要三样东西：一段消息列表、一个模型名、一个回调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「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回调」形状决定了后面所有流式行为的样子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onChunk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(chunk) -&gt;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bool：返回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false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表示调用方要求取消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为什么回调要能返回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bool？因为「看到一半想停」是真实需求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而不是因为「这样设计更优雅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」。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先将该约定确定下来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是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L9 的 Ctrl-C、L12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的闸门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6 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的基础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概念与边界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为什么必须流式（不是体验，是能不能用）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非流式下，「模型在思考」和「网络卡住了」在用户看来完全一样 —— 猜错的代价是重复计费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875038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41966" y="1298448"/>
            <a:ext cx="4091400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非流式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33366" y="1298448"/>
            <a:ext cx="4091400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看到第一个字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1966" y="1628648"/>
            <a:ext cx="40914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数秒 ~ 数十秒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33366" y="1628648"/>
            <a:ext cx="40914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数百毫秒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2875038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长回答中途放弃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1966" y="1933448"/>
            <a:ext cx="4091400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白花</a:t>
            </a:r>
            <a:r>
              <a:rPr lang="en-US" altLang="zh-CN" sz="12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token</a:t>
            </a:r>
            <a:endParaRPr sz="125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33366" y="1933448"/>
            <a:ext cx="4091400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已看到的部分可读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中途能打断吗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1966" y="2238248"/>
            <a:ext cx="40914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只能取消整个请求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33366" y="2238248"/>
            <a:ext cx="40914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可以「看完这段就停」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2875038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出错时（被截断）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41966" y="2543048"/>
            <a:ext cx="4091400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什么都拿不到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33366" y="2543048"/>
            <a:ext cx="4091400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至少拿到前半段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概念与边界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4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协议实现：分帧与跨块累积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先用两张图与伪码定形状，四个文件与三段关键代码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G5 主干时序图 · 第 1 版（4 个对象）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7" name="Picture 6" descr="G05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884" y="1298448"/>
            <a:ext cx="5281926" cy="47548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G05 v1 · 01-图表库/G05-v1.mmd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协议实现：分帧与跨块累积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U02 · ChatChunk variant + IModelProvider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7" name="Picture 6" descr="U02-chunk-streamc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37" y="1298448"/>
            <a:ext cx="10739021" cy="3713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121402"/>
            <a:ext cx="5391759" cy="931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用 variant 不用大 struct：强制穷尽分支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八种事件：Text / Thinking / ToolCallStart / Delta / Done / Usage / Error /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5121402"/>
            <a:ext cx="5391759" cy="931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漏掉 DoneChunk 在大 struct 方案里是静默的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stream 的回调返回 bool：false = 调用方要求取消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U02 · 源文件：types.hpp / model_provider.hpp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协议实现：分帧与跨块累积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伪码 P2 —— SSE 分帧与跨块缓冲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【码】 伪码 P2 · sse_parser.cpp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状态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：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buffer ← ""          //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类成员，不是局部变量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过程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feed(bytes):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buffer ← buffer + bytes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循环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：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(pos,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sepLen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找最早的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"\n\n" 或 "\r\n\r\n"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若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没找到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退出循环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//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不完整的帧不解析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block  ← buffer[0 .. </a:t>
            </a:r>
            <a:r>
              <a:rPr lang="en-US"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os</a:t>
            </a:r>
            <a:r>
              <a:rPr lang="en-US" altLang="zh-CN"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]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buffer ← buffer[pos +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sepLen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..]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事件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parseBlock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(block)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若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事件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非空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 dispatch(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事件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过程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flush():               //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流结束时必须调用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若 buffer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非空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 把 buffer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当成最后一个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block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解析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buffer 必须是类成员：每块从零开始 → 跨块事件永远拼不出来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只在找到完整分隔符后才切：解析半个 JSON → 静默丢弃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\r\n\r\n 里不含 \n\n 子串 —— 必须分别查找取更早者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flush() 处理末尾残留：否则丢掉最后一帧（往往是 finish_reason 那帧）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协议实现：分帧与跨块累积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四个文件，各管一件事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【码】 L3-v0能对话/code/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code/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types.hpp              ← 契约层（L2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定稿，一行没改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model_provider.hpp  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端口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①：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模型适配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http_transport.hpp  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端口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②：HTTP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传输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http_winhttp.cpp    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端口②的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Windows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实现（系统自带零依赖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sse_parser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.{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hpp,cpp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   ←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核心：字节流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→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事件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providers.cpp          ←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重点：事件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→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ChatChunk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main.cpp               ← v0 的 CLI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mock_server.py      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假服务端（验证用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verify.ps1          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一键验证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└── build.ps1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注意第一行：types.hpp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这一讲一个字都没改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L2 定契约、L3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用契约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 CR-3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第一次得到验证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传输层用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WinHTTP：系统自带，零额外依赖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整条链路上没有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libcurl，也没有包管理器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协议实现：分帧与跨块累积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F03 · SSE 分帧状态机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7" name="Picture 6" descr="F03-sse-fr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78223"/>
            <a:ext cx="6903720" cy="3795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F03 · 源文件：sse_parser.cpp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协议实现：分帧与跨块累积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关键代码：把细节拼起来（注释即讲义）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【码】 providers.cpp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bool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dispatchOpenAI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(const json&amp; j) {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bool keep = true;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// ① usage ——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必须同时判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contains 与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is_null（失效模式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L3-2）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if (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j.contains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("usage") &amp;&amp; !j["usage"].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is_null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()) {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usage.inputTokens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u.value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("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prompt_tokens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",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usage.inputTokens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usage.outputTokens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u.value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("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completion_tokens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",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usage.outputTokens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keep = emit(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UsageChunk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{usage}) &amp;&amp; keep;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// ②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正文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——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空串也要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emit，但不能当「第一个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token」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if (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d.contains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("content") &amp;&amp; !d["content"].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is_null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()) {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std::string t = d["content"].get&lt;std::string&gt;();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textAcc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+= t;                      // ★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累积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→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最终答案</a:t>
            </a:r>
            <a:endParaRPr sz="9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keep = emit(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TextDelta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{std::move(t)}) &amp;&amp; keep;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// ③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finish_reason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—— ★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必须最后处理，中间不得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return（失效模式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L3-3）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if (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ch.contains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("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finish_reason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") &amp;&amp; !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["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finish_reason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"].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is_null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()) {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finishReason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fromOpenAIFinish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(...);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keep = emit(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DoneChunk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9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finishReason</a:t>
            </a: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}) &amp;&amp; keep;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return keep;</a:t>
            </a:r>
          </a:p>
          <a:p>
            <a:pPr>
              <a:spcAft>
                <a:spcPts val="100"/>
              </a:spcAft>
            </a:pPr>
            <a:r>
              <a:rPr sz="9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三个 if 的顺序不是风格问题，是正确性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将 finish_reason 前移并 return，即复现该失效模式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协议实现：分帧与跨块累积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为什么 textAcc 要自己累积一份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不能「把 onChunk 收到的片段自己拼起来」当最终答案。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★ 因为 onChunk 是可以被取消的（返回 false）。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而且 UI 可能回退 / 重绘。渲染状态 ≠ 会话状态。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两者必须分开维护；该结论在 L9 引入终端界面时同样成立。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一般化：凡是「给用户看的」和「给模型的」都要各存一份。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协议实现：分帧与跨块累积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一个必须显式要求的参数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流式必须显式传 stream_options.include_usage，否则响应里没有 usage。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不得以服务端自报 usage 判定结果 —— 测试服务端可能上报 completion_tokens=24 却未发送任何内容。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判据首选「服务端真实收到的量」，不用「客户端自称已发送」。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失效模式与判据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6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三行验证不需要 API Key，以及假服务端怎么造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构建与运行：三行，不需要 API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【码】 verify.ps1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cd 11-逐讲\L3-v0能对话\code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.\build.ps1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.\verify.ps1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──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环境变量（指向假服务端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）──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env:OPENAI_BASE_URL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= "http://127.0.0.1:$Port/v1"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env:OPENAI_API_KEY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= "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sk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-test"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env:AF_PROVIDER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= "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openai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"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env:AF_MODEL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= "mock-1"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python mock_server.py "$Port" "mock_requests.log"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.\build\agent.exe "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你好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验证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验收清单（6 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第 3 条是最值钱的用例：把字节流在任意位置硬切，是对分帧逻辑唯一的真考验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663470" cy="330200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0398" y="1298448"/>
            <a:ext cx="5528919" cy="330200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9317" y="1298448"/>
            <a:ext cx="4865449" cy="330200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怎么验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66347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0398" y="1628648"/>
            <a:ext cx="55289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 "你好" 流式回一句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9317" y="16286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verify.ps1 的 C1 / C2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663470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0398" y="1933448"/>
            <a:ext cx="5528919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中文任务不抛 type_error.316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9317" y="1933448"/>
            <a:ext cx="4865449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C2 + 服务端日志无 BAD 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66347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0398" y="2238248"/>
            <a:ext cx="55289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服务端把响应切碎，客户端仍拿全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9317" y="22382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C1（37 字节硬切）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663470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0398" y="2543048"/>
            <a:ext cx="5528919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usage 事件恰好 1 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9317" y="2543048"/>
            <a:ext cx="4865449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C1 的 usageEvents=1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66347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0398" y="2847848"/>
            <a:ext cx="55289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length 被显式报为截断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9317" y="28478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52648"/>
            <a:ext cx="663470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0398" y="3152648"/>
            <a:ext cx="5528919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200 但无内容 = 失败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59317" y="3152648"/>
            <a:ext cx="4865449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验证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服务端（脚手架</a:t>
            </a:r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1066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让 mock_server.py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按脚本吐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chunk，包括坏帧与空帧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判据首选「服务端真实收到的量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」（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长度差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不用「客户端自称已发送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判据：按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id /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callId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seq，不用位置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验证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验证：15 通过 / 0 失败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15 / 0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verify.ps1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1679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新增源文件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0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需要的 API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11181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假服务端（mock_server.py）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55264"/>
            <a:ext cx="11057839" cy="943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 dirty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6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6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验证协议层不需要</a:t>
            </a:r>
            <a:r>
              <a:rPr sz="16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API Key 。</a:t>
            </a:r>
          </a:p>
          <a:p>
            <a:pPr>
              <a:spcAft>
                <a:spcPts val="800"/>
              </a:spcAft>
            </a:pPr>
            <a:r>
              <a:rPr sz="1600" b="0" i="0" dirty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6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服务端</a:t>
            </a:r>
            <a:r>
              <a:rPr lang="en-US" altLang="zh-CN" sz="16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Mock</a:t>
            </a:r>
            <a:r>
              <a:rPr sz="16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：按脚本吐</a:t>
            </a:r>
            <a:r>
              <a:rPr sz="16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chunk，包括坏帧与空帧</a:t>
            </a:r>
            <a:r>
              <a:rPr sz="16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1600" b="0" i="0" dirty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6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排查顺序固定：先看服务端日志</a:t>
            </a:r>
            <a:r>
              <a:rPr sz="16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[MODE] </a:t>
            </a:r>
            <a:r>
              <a:rPr lang="zh-CN" altLang="en-US" sz="16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内容</a:t>
            </a:r>
            <a:r>
              <a:rPr sz="16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，再</a:t>
            </a:r>
            <a:r>
              <a:rPr lang="zh-CN" altLang="en-US" sz="16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检查</a:t>
            </a:r>
            <a:r>
              <a:rPr sz="16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被测代码</a:t>
            </a:r>
            <a:r>
              <a:rPr sz="16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验证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7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练习与设计模式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实现题 H2 与其两类典型错误，以及五个设计模式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练习 H2：给 v0 加多轮对话；验收标准是第二问能答出第一问里的名字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H2 的两类典型错误：全量回传历史；assistant 消息只存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065774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P-02 端口与适配器 / P-15 访问者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486397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P-09 / P-16 / P-10 以及它们的时机：此刻只有一个 provider，不必写抽象基类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练习 H2（实现题）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给 v0 加多轮对话：让模型记得前文。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① main 里加交互循环：读一行 → 发请求 → 打印回答 → 再读一行。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② 把历史消息带回模型：每轮结束把 assistant 的回复追加进 messages。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③ Ctrl-C（或输入 exit）能退出，退出时打印本会话累计 token。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验收标准只有一句话：第二问能答出第一问里的名字。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练习与设计模式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练习 H2 的两类典型错误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错误一：将完整历史逐轮回传，数轮后返回 400。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正确做法不是以 try/catch 包裹后截断字符串 —— 如此将截出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「半个 tool 消息」这种非法历史。记下信号，等 L7 用预算和压缩处理。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最低要求：遇到这个错误时明确告诉用户「上下文满了」，而不是崩掉。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错误二：assistant 消息不可仅存 content 字段。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自己造一个 Message{role=Assistant, content=...} 塞回去，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L4 有了工具调用之后就会丢字段。存整个 resp.message。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练习与设计模式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设计模式：P-02 端口与适配器 / P-15 访问者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P-02 端口与适配器：IModelProvider（端口①）、IHttpTransport（端口②）。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协议转换是平台无关的核心；HTTP 库是可替换的细节。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P-15 访问者：消费 ChatChunk 的 8 种事件。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用变体把「漏处理事件」从静默 bug 变成编译错误。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练习与设计模式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设计模式：P-09 / P-16 / P-10 —— 以及它们的时机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L3 · v0 能对话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1826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P-09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适配器（雏形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）：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toRequest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dispatchOpenAI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把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OpenAI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协议翻译成自己的类型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P-16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工厂方法：createProvider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createHttpTransport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平台判断收在工厂里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P-10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模板方法（雏形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）：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HttpProviderBase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::execute()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固定重试骨架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当前仅有一个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provider，P-09 / P-10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的作用尚不显著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此为主动取舍，并非遗漏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L4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引入第二种协议后，二者的必要性方可体现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练习与设计模式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2099</Words>
  <Application>Microsoft Office PowerPoint</Application>
  <PresentationFormat>宽屏</PresentationFormat>
  <Paragraphs>448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xs_zh</cp:lastModifiedBy>
  <cp:revision>7</cp:revision>
  <dcterms:created xsi:type="dcterms:W3CDTF">2013-01-27T09:14:16Z</dcterms:created>
  <dcterms:modified xsi:type="dcterms:W3CDTF">2026-10-08T02:58:02Z</dcterms:modified>
  <cp:category/>
</cp:coreProperties>
</file>