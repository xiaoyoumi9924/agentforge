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3" r:id="rId11"/>
    <p:sldId id="265" r:id="rId12"/>
    <p:sldId id="266" r:id="rId13"/>
    <p:sldId id="267" r:id="rId14"/>
    <p:sldId id="268" r:id="rId15"/>
    <p:sldId id="269" r:id="rId16"/>
    <p:sldId id="294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5" r:id="rId25"/>
    <p:sldId id="278" r:id="rId26"/>
    <p:sldId id="279" r:id="rId27"/>
    <p:sldId id="280" r:id="rId28"/>
    <p:sldId id="281" r:id="rId29"/>
    <p:sldId id="282" r:id="rId30"/>
    <p:sldId id="296" r:id="rId31"/>
    <p:sldId id="283" r:id="rId32"/>
    <p:sldId id="284" r:id="rId33"/>
    <p:sldId id="297" r:id="rId34"/>
    <p:sldId id="285" r:id="rId35"/>
    <p:sldId id="286" r:id="rId36"/>
    <p:sldId id="287" r:id="rId37"/>
    <p:sldId id="298" r:id="rId38"/>
    <p:sldId id="288" r:id="rId39"/>
    <p:sldId id="28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828800"/>
            <a:ext cx="922903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971800"/>
            <a:ext cx="922903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20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设计完成前，</a:t>
            </a:r>
            <a:r>
              <a:rPr sz="20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lang="zh-CN" altLang="en-US" sz="20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落</a:t>
            </a:r>
            <a:r>
              <a:rPr sz="20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写代码</a:t>
            </a:r>
            <a:r>
              <a:rPr lang="zh-CN" altLang="en-US" sz="20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（快速原型除外）</a:t>
            </a:r>
            <a:endParaRPr sz="20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4325111"/>
            <a:ext cx="922903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产出：模块设计说明书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+ 7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个接口头文件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contract_check</a:t>
            </a:r>
            <a:endParaRPr sz="140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67167" y="1005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</a:t>
            </a:r>
            <a:r>
              <a:rPr lang="en-US" altLang="zh-CN" sz="1600" b="1" i="0" dirty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600" b="1" i="0" dirty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</a:t>
            </a:r>
            <a:r>
              <a:rPr sz="34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3400" b="1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领域已知内容</a:t>
            </a:r>
            <a:endParaRPr sz="34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466754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耦合与依赖原则、接口与</a:t>
            </a:r>
            <a:r>
              <a:rPr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ABI、契约式设计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背景一 · 耦合、内聚与三条依赖原则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050" b="0" i="0" dirty="0" err="1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五条中只有</a:t>
            </a:r>
            <a:r>
              <a:rPr sz="105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 SDP </a:t>
            </a:r>
            <a:r>
              <a:rPr sz="1050" b="0" i="0" dirty="0" err="1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能直接给出可操作的判据，故本课程以</a:t>
            </a:r>
            <a:r>
              <a:rPr sz="105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 SDP </a:t>
            </a:r>
            <a:r>
              <a:rPr sz="1050" b="0" i="0" dirty="0" err="1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为切分主依据</a:t>
            </a:r>
            <a:endParaRPr sz="1050" b="0" i="0" dirty="0">
              <a:solidFill>
                <a:srgbClr val="9AA0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211567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8495" y="1298448"/>
            <a:ext cx="442313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1630" y="1298448"/>
            <a:ext cx="442313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本工程实践</a:t>
            </a:r>
            <a:r>
              <a:rPr sz="130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中的用法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耦合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8495" y="16286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模块之间依赖关系的强度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1630" y="16286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以「依赖方向单向」为硬约束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2211567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内聚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8495" y="1933448"/>
            <a:ext cx="442313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模块内各元素属于同一职责的程度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1630" y="1933448"/>
            <a:ext cx="442313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以「改动理由是否相同」判定，而非功能是否相似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稳定依赖原则 SDP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8495" y="22382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依赖方向应指向更稳定的模块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1630" y="22382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三层划分的直接依据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2211567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稳定抽象原则 SAP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8495" y="2543048"/>
            <a:ext cx="442313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越稳定的模块应当越抽象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1630" y="2543048"/>
            <a:ext cx="442313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 只放类型，不放实现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无环依赖原则 ADP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8495" y="28478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依赖图中不应存在环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1630" y="28478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共享类型下沉至 types.hpp，从结构上封死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背景原理　</a:t>
            </a:r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背景二 · 接口、ABI 与二进制兼容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2177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接口（API）是编译期的约定；ABI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是运行期二进制层面的约定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ABI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覆盖：调用约定、名字修饰、结构体布局、异常传播、内存分配器归属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同一编译器的不同版本、不同标准库实现之间，C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++ 的 ABI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均不保证兼容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语言在给定平台上的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ABI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相对稳定：仅涉及调用约定与结构体布局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推论：跨动态库边界应只传递纯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C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类型；C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++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类型不得跨边界传递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该推论即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ADR-3（插件接口为纯 C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ABI）的依据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背景原理　</a:t>
            </a:r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背景三 · 契约式设计（Design by Contract）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契约由三部分组成：前置条件、后置条件、不变式。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本课程的三条契约规矩是该方法在 C++ 工程中的具体化：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CR-1 共享类型集中放置 → 各方对同一类型具有一致理解。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CR-2 失败以返回值表达 → 失败属于后置条件的一部分，调用方必须处理。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CR-3 接口只增不改 → 既有契约对既有调用方持续有效。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契约若仅存在于文档中，其满足情况不可验证；写成断言后方可由机器检查。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contract_check.cpp 即据此设计：编译期断言 + 运行期断言。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背景四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分层与边界依据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三条的共通点：边界要能被机器检查，否则只是注释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317351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4279" y="1298448"/>
            <a:ext cx="420197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6257" y="1298448"/>
            <a:ext cx="353850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3317351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端口与适配器（六边形架构，Cockburn）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4279" y="1628648"/>
            <a:ext cx="420197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以端口把「可替换的部分」隔离在核心之外，实现作为适配器接入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6257" y="1628648"/>
            <a:ext cx="353850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四个端口的定义依据：判据是「变化是否来自模块之外」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49348"/>
            <a:ext cx="3317351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Model Context Protocol（Anthropic，2024-11）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4279" y="2149348"/>
            <a:ext cx="4201978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host / client / server 三分，消息流基于 JSON-RPC 2.0，复用 LSP 的思路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6257" y="2149348"/>
            <a:ext cx="3538508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现成的模块边界范例：谁持有连接、谁只提供能力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3317351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契约式设计（Design by Contract）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4279" y="2670048"/>
            <a:ext cx="420197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契约由前置条件、后置条件、不变式组成；仅写在文档中的契约不可验证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6257" y="2670048"/>
            <a:ext cx="353850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契约必须写成断言， contract_check 即据此设计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背景五 · 真实系统的边界划分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契约层的价值在「差异出现时」兑现，在差异出现前看起来是多余的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43272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9652" y="1298448"/>
            <a:ext cx="4644292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公开做法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43944" y="1298448"/>
            <a:ext cx="3980822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432724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Model Context Protocol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9652" y="1628648"/>
            <a:ext cx="4644292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server 暴露工具与资源，client 负责连接，host 负责编排；工具以 JSON Schema 描述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3944" y="1628648"/>
            <a:ext cx="3980822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与「工具定义即契约」同构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49348"/>
            <a:ext cx="243272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OpenHands（ICLR 2025）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9652" y="2149348"/>
            <a:ext cx="464429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契约层稳定后，可并存多个模型、沙箱与界面的实现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43944" y="2149348"/>
            <a:ext cx="3980822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对应「契约先定、实现后补」的收益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4541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多种模型厂商并存的现实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9652" y="24541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同一能力在不同协议下形状不同（端点、角色、工具结果位置）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43944" y="2454148"/>
            <a:ext cx="398082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差异被关在适配器里</a:t>
            </a:r>
            <a:endParaRPr sz="12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参考 · 参考资料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完整清单见 12-课件PPT/05-参考资料.md §2 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5783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2711" y="1298448"/>
            <a:ext cx="508660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9316" y="1298448"/>
            <a:ext cx="4865449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答案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2711" y="16286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Model Context Protocol（Anthropic，2024-11）规范与 SDK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9316" y="16286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模块边界的现成范例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2711" y="19334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端口与适配器（六边形架构）；依赖倒置原则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9316" y="19334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端口该在哪里开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72711" y="22382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契约式设计（前置条件 / 后置条件 / 不变式）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9316" y="22382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契约由什么组成、为什么必须写成断言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2711" y="25430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《Designing Data-Intensive Applications》第 1、11 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9316" y="25430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分层与可演化性的系统叙述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72711" y="28478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OpenHands（ICLR 2025）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9316" y="28478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契约稳定之后多实现并存的实例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背景如何落到正文：已知机制 → 正文的哪一处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背景不是铺垫：正文的每一步，都对应一个已有明确机制的领域问题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75966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背景里的机制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6593" y="1298448"/>
            <a:ext cx="7298173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落在正文哪一处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86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稳定依赖原则 SDP（背景一）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6593" y="16286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两刀切分的第二刀：依赖必须指向更稳定的方向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334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SAP 与无环依赖原则（背景一）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6593" y="19334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 只放类型；共享类型下沉以从结构上封死成环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382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 的 ABI 相对稳定（背景二）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6593" y="22382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ADR-3：跨动态库边界只传纯 C 类型，L4 予以实现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430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契约三部分组成（背景三）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6593" y="25430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CR-1 / CR-2 / CR-3 三条规矩的具体化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478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端口与适配器（背景四）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6593" y="28478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七个接口头就是七个端口，每个都对应一个外部实现者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526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真实系统的边界（背景五）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6593" y="31526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工具定义即契约；协议差异被关在适配器里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3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切分依据与模块清单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怎么切，13 </a:t>
            </a:r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个模块</a:t>
            </a:r>
            <a:r>
              <a:rPr lang="zh-CN" altLang="en-US"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如何</a:t>
            </a:r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推导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切分模块的唯一依据：两刀，且有先后顺序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第一刀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SRP：按「改动的理由」切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判据不是功能是否相似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而是「会不会因为同一件事而变化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模型适配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上下文组装：换厂家的理由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≠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调预算的理由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→ 拆。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HTTP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传输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协议转换：平台变了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≠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协议变了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→ 拆。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权限门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沙箱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：「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问不问人」和「拦不拦得住」是两个独立问题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→ 拆。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第二刀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SDP：依赖必须指向更稳定的方向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变化最快：交互执行层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核心智能层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基础设施层：变化最慢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切分依据与模块清单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一个可操作的切分流程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① 列出需求 → 模块映射表里所有承载模块。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② 对每个模块问「它因为什么而改动？」 → 理由相同的合并。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③ 对每对模块问「谁更稳定？」 → 稳定者在下，依赖指向它。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④ 检查有没有 A 依赖 B、B 又依赖 A → 有则把共享类型下沉。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⑤ 给每个模块写一行「不做什么」。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★ 第 5 步最容易被跳过，也最有价值 —— 边界往往由「不做的事」定义。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例：ContextAssembler 不做检索，它只负责把检索结果塞进预算。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切分依据与模块清单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13 个模块 · 3 层，是 8 FR + 6 NFR + 7 C 推导的结果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13 个模块并非主观设定：它由需求条目推导得出，而非按相似性归并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658675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5603" y="1298448"/>
            <a:ext cx="2432724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58327" y="1298448"/>
            <a:ext cx="4423135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职责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81462" y="1298448"/>
            <a:ext cx="2543302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主要服务的需求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28648"/>
            <a:ext cx="165867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交互执行层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5603" y="16286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⑥ 工具调用与执行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8327" y="16286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注册工具、校验参数、派发、过滤输出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81462" y="1628648"/>
            <a:ext cx="254330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FR-1/2/3/8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3448"/>
            <a:ext cx="165867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25603" y="1933448"/>
            <a:ext cx="243272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⑪ UI 与交互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8327" y="1933448"/>
            <a:ext cx="442313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流式渲染、diff 展示、危险操作审批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1462" y="1933448"/>
            <a:ext cx="2543302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FR-6、UC2/UC3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38248"/>
            <a:ext cx="165867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25603" y="22382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⑬ 测试与评估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58327" y="22382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回归集、基准、成本分析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1462" y="2238248"/>
            <a:ext cx="254330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NFR-6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43048"/>
            <a:ext cx="165867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核心智能层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25603" y="2543048"/>
            <a:ext cx="243272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⑦ Agent 循环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58327" y="2543048"/>
            <a:ext cx="442313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推理 → 工具 → 观察 → 再推理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1462" y="2543048"/>
            <a:ext cx="2543302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FR-4 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47848"/>
            <a:ext cx="165867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25603" y="28478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② 多模型适配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58327" y="28478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统一 chat 接口、流式、超时重试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81462" y="2847848"/>
            <a:ext cx="254330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C-5、NFR-5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152648"/>
            <a:ext cx="165867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25603" y="3152648"/>
            <a:ext cx="243272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④ 上下文组装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58327" y="3152648"/>
            <a:ext cx="442313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分层组装 + 预算 + 降级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81462" y="3152648"/>
            <a:ext cx="2543302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C-1、NFR-2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457448"/>
            <a:ext cx="165867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225603" y="34574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③ 仓库理解与索引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58327" y="34574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符号索引、依赖图、检索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81462" y="3457448"/>
            <a:ext cx="254330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FR-1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762248"/>
            <a:ext cx="165867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225603" y="3762248"/>
            <a:ext cx="243272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⑤ 增量状态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58327" y="3762248"/>
            <a:ext cx="442313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git diff、文件版本跟踪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81462" y="3762248"/>
            <a:ext cx="2543302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FR-2、NFR-3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067048"/>
            <a:ext cx="165867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基础设施层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25603" y="40670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① 插件管理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58327" y="40670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动态发现、加载、生命周期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81462" y="4067048"/>
            <a:ext cx="254330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NFR-5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371848"/>
            <a:ext cx="165867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225603" y="4371848"/>
            <a:ext cx="243272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⑧ 安全与权限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58327" y="4371848"/>
            <a:ext cx="442313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权限判定、沙箱、审计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81462" y="4371848"/>
            <a:ext cx="2543302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NFR-1 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4676648"/>
            <a:ext cx="165867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225603" y="46766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⑨ 可观测性与日志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58327" y="46766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结构化日志、请求追踪、用量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81462" y="4676648"/>
            <a:ext cx="254330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FR-6、NFR-3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981448"/>
            <a:ext cx="165867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225603" y="4981448"/>
            <a:ext cx="243272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⑩ 配置管理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58327" y="4981448"/>
            <a:ext cx="442313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集中配置、环境变量覆盖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81462" y="4981448"/>
            <a:ext cx="2543302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5286248"/>
            <a:ext cx="165867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225603" y="5286248"/>
            <a:ext cx="243272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⑫ 持久化与记忆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58327" y="52862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会话存档、恢复、长期记忆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81462" y="5286248"/>
            <a:ext cx="254330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FR-5、NFR-3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切分依据与模块清单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「第 0 个模块」：types.hpp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233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它不属于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13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个业务模块中的任何一个，而是所有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共用的语言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处在比基础设施层更低的位置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谁都能依赖它，它不依赖任何</a:t>
            </a:r>
            <a:r>
              <a:rPr lang="zh-CN" altLang="en-US" sz="170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该改动从结构上消除了循环依赖，并非依赖开发纪律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不是「公共工具库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」，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不能随便往里塞东西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判据是「这个类型是不是被两个以上模块同时使用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」，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不是「放这儿方便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lang="en-US" altLang="zh-CN"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想改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types.hpp，都会被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CR-3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挡回去问一句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lang="en-US" altLang="zh-CN"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既有调用方要不要跟着改？不要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是进化；要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是破坏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切分依据与模块清单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三条契约规矩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CR-3 表面是编码约束，实质是成本控制 —— L5/L6/L7/L9 会反复向头文件添加方法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5783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规矩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2711" y="1298448"/>
            <a:ext cx="4865449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8160" y="1298448"/>
            <a:ext cx="3317351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违反的后果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55511" y="1298448"/>
            <a:ext cx="1769254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286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CR-1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2711" y="16286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共享类型放 types.hpp，接口放各自模块的头文件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8160" y="1628648"/>
            <a:ext cx="331735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循环依赖；包含地狱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55511" y="16286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L1 R3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3448"/>
            <a:ext cx="1105783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CR-2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72711" y="1933448"/>
            <a:ext cx="4865449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失败是返回值（isError / ErrorChunk），不是异常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8160" y="1933448"/>
            <a:ext cx="3317351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模型无法自我修复 → 违反 FR-8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55511" y="1933448"/>
            <a:ext cx="176925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382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CR-3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2711" y="22382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接口只加不改：可以新增方法，不可改已有签名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8160" y="2238248"/>
            <a:ext cx="331735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每个调用点都要改</a:t>
            </a:r>
            <a:endParaRPr sz="12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855511" y="22382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NFR-5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切分依据与模块清单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4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契约层的形状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先用四张图把共享类型定死，再给出七个接口头与全课代码地图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G3 组件图 —— 13 模块 3 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pic>
        <p:nvPicPr>
          <p:cNvPr id="7" name="Picture 6" descr="G03-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115" y="1298448"/>
            <a:ext cx="5941465" cy="4754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G03 · 01-图表库/G03-component.mmd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契约层的形状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U01a · 契约层的枚举与用量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7" name="Picture 6" descr="U01a-enu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5" y="1298448"/>
            <a:ext cx="10448845" cy="3713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21402"/>
            <a:ext cx="5391759" cy="931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3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五个枚举是全课共用的取值域，任何模块都不得另造一套</a:t>
            </a:r>
            <a:endParaRPr sz="13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3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token </a:t>
            </a:r>
            <a:r>
              <a:rPr sz="13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是估出来的：size</a:t>
            </a:r>
            <a:r>
              <a:rPr sz="13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()/4，中文会低估 —— </a:t>
            </a:r>
            <a:r>
              <a:rPr sz="13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必须写下来这是估算</a:t>
            </a:r>
            <a:endParaRPr sz="13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33007" y="5121402"/>
            <a:ext cx="5391759" cy="931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RiskLevel 决定权限规则的写法：按 risk 写规则，不按工具名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U01a · 源文件：types.hpp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契约层的形状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U01b · 契约层的消息与请求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7" name="Picture 6" descr="U01b-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366" y="1298448"/>
            <a:ext cx="7228962" cy="34787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886960"/>
            <a:ext cx="3503066" cy="1166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Message 是扁平列表里的一条，同时承担三种形态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ToolResult::toMessage()：失败也是一种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4314" y="4886960"/>
            <a:ext cx="3503066" cy="1166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assistant 文本 / tool_calls / tool_result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ChatRequest 里 tools 的顺序必须字节级稳定（顺序即缓存）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1700" y="4886960"/>
            <a:ext cx="3503066" cy="1166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toolCallId 必须与产生它的 toolCalls[].id 配对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U01b · 源文件：types.hpp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契约层的形状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G4 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类图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核心类型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7" name="Picture 6" descr="G04-core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201" y="1298448"/>
            <a:ext cx="7375292" cy="47548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G04 · 01-图表库/G04-core-types.mmd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契约层的形状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六个接口：每个都是「端口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每个头文件均保留「以下两项后续讲次补充，暂不实现」的注释 —— 此为 CR-3 的落地方式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875038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头文件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1966" y="1298448"/>
            <a:ext cx="2211567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端口 / 角色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3533" y="1298448"/>
            <a:ext cx="3980822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34355" y="1298448"/>
            <a:ext cx="1990411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兑现于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286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http_transport.hpp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1966" y="16286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端口② HTTP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3533" y="1628648"/>
            <a:ext cx="398082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post / postStream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355" y="1628648"/>
            <a:ext cx="199041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3448"/>
            <a:ext cx="2875038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model_provider.hpp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1966" y="1933448"/>
            <a:ext cx="221156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端口① 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3533" y="1933448"/>
            <a:ext cx="398082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chat / stream / countTokens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4355" y="1933448"/>
            <a:ext cx="1990411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382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sandbox.hpp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41966" y="22382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端口③ 执行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3533" y="2238248"/>
            <a:ext cx="398082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exec / selfCheck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34355" y="2238248"/>
            <a:ext cx="199041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43048"/>
            <a:ext cx="2875038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tool_registry.hpp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41966" y="2543048"/>
            <a:ext cx="221156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端口④ UI + 工具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3533" y="2543048"/>
            <a:ext cx="398082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confirm / notice / registerBuiltin / dispatch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4355" y="2543048"/>
            <a:ext cx="1990411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L4 / L6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47848"/>
            <a:ext cx="287503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context_budget.hpp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41966" y="28478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53533" y="2847848"/>
            <a:ext cx="398082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assemble / setTools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34355" y="2847848"/>
            <a:ext cx="199041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152648"/>
            <a:ext cx="2875038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agent_loop.hpp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41966" y="3152648"/>
            <a:ext cx="221156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循环内核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3533" y="3152648"/>
            <a:ext cx="398082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run / LoopHooks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34355" y="3152648"/>
            <a:ext cx="1990411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L5 / L6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契约层的形状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代码地图：模块是逻辑划分，代码是物理落点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L6 不新增任何文件 —— 该事实表明：合理的架构可在不增加模块的前提下增加能力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437519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2004447" y="1298448"/>
            <a:ext cx="884627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9074" y="1298448"/>
            <a:ext cx="4644292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新增文件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33366" y="1298448"/>
            <a:ext cx="4091400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这一步让系统「能干什么」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28648"/>
            <a:ext cx="14375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设计先行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04447" y="1628648"/>
            <a:ext cx="88462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9074" y="16286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main.cpp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33366" y="16286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工具链通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3448"/>
            <a:ext cx="1437519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04447" y="1933448"/>
            <a:ext cx="88462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9074" y="1933448"/>
            <a:ext cx="464429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 等 7 个头文件（零实现）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33366" y="1933448"/>
            <a:ext cx="4091400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契约定型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38248"/>
            <a:ext cx="14375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最小闭环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04447" y="2238248"/>
            <a:ext cx="88462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9074" y="22382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sse_parser · providers.cpp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33366" y="22382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v0 能对话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43048"/>
            <a:ext cx="1437519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4447" y="2543048"/>
            <a:ext cx="88462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9074" y="2543048"/>
            <a:ext cx="464429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plugin · tool_registry.cpp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33366" y="2543048"/>
            <a:ext cx="4091400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v1 能读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47848"/>
            <a:ext cx="14375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004447" y="2847848"/>
            <a:ext cx="88462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9074" y="28478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agent_loop.cpp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33366" y="28478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v2/v3 能改、能自主循环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152648"/>
            <a:ext cx="1437519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能用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4447" y="3152648"/>
            <a:ext cx="88462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9074" y="3152648"/>
            <a:ext cx="464429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—（六道闸门全加进既有的 agent_loop.cpp）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33366" y="3152648"/>
            <a:ext cx="4091400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v4 能刹车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457448"/>
            <a:ext cx="14375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004447" y="3457448"/>
            <a:ext cx="88462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9074" y="34574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context_budget · compaction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33366" y="34574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v5 有记忆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762248"/>
            <a:ext cx="1437519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004447" y="3762248"/>
            <a:ext cx="88462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9074" y="3762248"/>
            <a:ext cx="464429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repo_index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33366" y="3762248"/>
            <a:ext cx="4091400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v6 懂仓库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067048"/>
            <a:ext cx="14375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004447" y="4067048"/>
            <a:ext cx="88462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9074" y="40670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ui/*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33366" y="40670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v7 好看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371848"/>
            <a:ext cx="1437519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能交付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04447" y="4371848"/>
            <a:ext cx="88462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9074" y="4371848"/>
            <a:ext cx="464429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session_store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33366" y="4371848"/>
            <a:ext cx="4091400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v8 能存档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4676648"/>
            <a:ext cx="14375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004447" y="4676648"/>
            <a:ext cx="88462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89074" y="4676648"/>
            <a:ext cx="4644292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subagent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33366" y="4676648"/>
            <a:ext cx="40914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v9 会分身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981448"/>
            <a:ext cx="1437519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004447" y="4981448"/>
            <a:ext cx="884627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9074" y="4981448"/>
            <a:ext cx="4644292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33366" y="4981448"/>
            <a:ext cx="4091400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v10 有仪表盘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契约层的形状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代码为什么「只有声明」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066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七个头文件就是七个契约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</a:t>
            </a:r>
            <a:r>
              <a:rPr lang="zh-CN" altLang="en-US" sz="170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定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形状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实现在后面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逐步增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补。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形状定对的判据：后面加方法时，调用点是不是一个都不用改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契约层的形状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5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 的决策与契约自检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四个决策理由，以及把「编译通过」变成可执行验收的办法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决策 1：ChatChunk 用 variant —— 把一类静默 bug 变成编译错误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决策 2：Turn 必须放 types.hpp，否则契约层反向依赖循环而成环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065774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决策 3：Message 用值语义不搞继承；决策 4：sanitizeUtf8 放在最底层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486397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F02 契约自检：静态断言 + 运行期断言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907020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★ </a:t>
            </a:r>
            <a:r>
              <a:rPr sz="14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幂等那条最容易被漏：消毒函数把合法内容改坏了，症状会推迟好几讲</a:t>
            </a:r>
            <a:endParaRPr sz="14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 决策 1：ChatChunk 用 variant，不用大 struct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ChatChunk 恰好 8 种事件：Text / Thinking / ToolCallStart / Delta /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Done / Usage / Error / Done。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variant 强制 std::visit 穷尽所有分支 —— 遗漏一个事件类型将导致编译失败。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大 struct 方案里「忘了处理 DoneChunk」是完全静默的。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这是选 variant 的真正理由，不是语法糖，也不是「现代 C++ 更好」。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它是把一类静默 bug 变成编译错误的唯一手段。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types.hpp 的决策与契约自检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 决策 2–4：放哪儿、怎么拷、边界在哪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2033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决策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2：Turn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必须放在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types.hpp，不能放在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agent_loop.hpp。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放在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agent_loop.hpp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会让契约层反向依赖循环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成环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决策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3：Message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用值语义，不继承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引入虚函数的代价：拷贝性能塌，且违背值语义决策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决策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4：sanitizeUtf8()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放在最底层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它是所有外部字节的入口边界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判据：这是「内容」进上下文的边界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；「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路径」进文件系统是另一个函数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types.hpp 的决策与契约自检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F02 · 契约自检：把「编译通过」变成可执行验收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7" name="Picture 6" descr="F02-contract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037" y="1298448"/>
            <a:ext cx="8027621" cy="39476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355844"/>
            <a:ext cx="5391759" cy="697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静态断言：类型大小 / 布局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依赖方向：下层不能 include 上层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5355844"/>
            <a:ext cx="5391759" cy="697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签名检查：接口形状没被改坏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契约写在那儿没人看，写成断言才有人守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F02 · 源文件：L2-模块设计与核心契约/code/contract_check.cpp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types.hpp 的决策与契约自检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契约自检 · 编译期：形状错误即无法通过编译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contract_check.cpp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①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ChatChunk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8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种事件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static_assert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variant_size_v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ChatChunk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&gt; == 8,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  "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事件数量变了：请同步更新所有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std::visit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调用点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②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端口是抽象类（不能被误实例化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static_assert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is_abstract_v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IModelProvider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&gt;);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static_assert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is_abstract_v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IHttpTransport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&gt;);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static_assert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is_abstract_v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IUIPort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&gt;);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static_assert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is_abstract_v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ISandbox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&gt;);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③ Message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必须「非多态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」（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决策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3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的可执行形式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static_assert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(!std::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is_polymorphic_v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::Message&gt;,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  "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引入虚函数：拷贝性能会塌，且违背值语义决策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");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④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枚举必须是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enum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class（防隐式转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int）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static_assert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(!std::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is_convertible_v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::Role, int&gt;);</a:t>
            </a: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static_assert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(!std::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is_convertible_v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af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, int&gt;);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编译通过 ≠ 契约成立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「能编译」只证明语法对，不证明形状没被改坏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契约自检把设计决策变成可执行断言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types.hpp 的决策与契约自检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契约自检 · 运行期：形状对但语义错的，靠算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contract_check.cpp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⑥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预算分配必须守恒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BudgetConfig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cfg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;                       //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contextWindow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 200000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int sum =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cfg.forLayer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(L0) + ... +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cfg.forLayer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(L4);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CHECK(sum +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cfg.forLayer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(L5_History) ==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cfg.available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⑦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文本净化：GBK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字节须被识别为非法，净化后转为合法，且对合法输入保持幂等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CHECK(!isValidUtf8("\xB6\xC1"));              // 「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读」的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GBK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编码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CHECK(isValidUtf8(sanitizeUtf8("\xB6\xC1")));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CHECK(sanitizeUtf8("正常UTF-8") == "正常UTF-8");   //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幂等</a:t>
            </a:r>
            <a:endParaRPr sz="13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⑧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顺序：Read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&lt; Write &lt; Exec &lt; Network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CHECK(int(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::Read)   &lt; int(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::Write));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CHECK(int(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::Write)  &lt; int(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::Exec));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CHECK(int(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::Exec)   &lt; int(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::Network));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幂等那条最容易被漏：消毒函数把合法内容改坏了，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症状会推迟好几讲才出现（K-36）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预算守恒把「分层」从一句口号变成一个等式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types.hpp 的决策与契约自检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6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真实输出与 7 通过 / 0 失败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真实输出：预算守恒、RiskLevel 顺序、文本卫生三条各若干断言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验证：7 通过 / 0 失败；这份 contract_check 同时是 H1 作业的范本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真实输出（见 code/_run.log）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【码】 code/_run.log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预算分配检查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]  (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contextWindow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=200000)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L0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系统提示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8771 token  ( 5.0%)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L1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项目知识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14033 token  ( 8.0%)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L2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仓库地图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8771 token  ( 5.0%)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L3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检索命中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43856 token  (25.0%)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L4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活动文件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52627 token  (30.0%)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L5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对话历史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47366 token  (27.0%)   ←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剩余全部归历史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[PASS]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各层配额之和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可用量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[PASS]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历史层预算为正数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RiskLevel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顺序检查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]  Read=0 &lt; Write=1 &lt; Exec=2 &lt; Network=3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[PASS] Read &lt; Write &lt; Exec &lt; Network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文本卫生检查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[PASS]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合法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UTF-8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被识别为合法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[PASS] GBK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字节被识别为非法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[PASS]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消毒后一定是合法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UTF-8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[PASS]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合法内容不被改动（幂等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）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========================================</a:t>
            </a: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结果：7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通过</a:t>
            </a: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/ 0 </a:t>
            </a:r>
            <a:r>
              <a:rPr sz="12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失败</a:t>
            </a:r>
            <a:endParaRPr sz="1200" b="0" i="0" dirty="0">
              <a:solidFill>
                <a:srgbClr val="202124"/>
              </a:solidFill>
              <a:latin typeface="Consolas"/>
              <a:ea typeface="Consolas"/>
              <a:cs typeface="Consolas"/>
            </a:endParaRPr>
          </a:p>
          <a:p>
            <a:pPr>
              <a:spcAft>
                <a:spcPts val="100"/>
              </a:spcAft>
            </a:pPr>
            <a:r>
              <a:rPr sz="12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========================================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这份 contract_check.cpp 同时是 H1 作业的范本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编写《模块设计说明书》时应同时给出一份「契约自检」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证明接口形状是被验证过的，而不是「我觉得对」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验证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验证：7 通过 / 0 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7 / 0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契约自检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1679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接口头文件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0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模块（3 层）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11181" y="1298448"/>
            <a:ext cx="2613583" cy="1572768"/>
          </a:xfrm>
          <a:prstGeom prst="roundRect">
            <a:avLst>
              <a:gd name="adj" fmla="val 5000"/>
            </a:avLst>
          </a:prstGeom>
          <a:solidFill>
            <a:srgbClr val="FBEEE0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  <a:p>
            <a:pPr algn="ctr"/>
            <a:r>
              <a:rPr sz="12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运行时代码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55264"/>
            <a:ext cx="11057839" cy="279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6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自检就是产物 —— 没有「能跑的 agent」，有「跑得动的契约」。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6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这也是全课唯一没有可运行示例的一讲（下一讲产生首句输出）。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验证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7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练习与设计模式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设计题 H1，以及四个设计模式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练习 H1：13 个以内的模块、三层归属、每个模块一行「不做什么」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P-02 端口与适配器 / P-01 分层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065774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P-16 依赖注入 / P-15 访问者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练习 H1（设计题）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按 §1.1 的五步流程，给自己领域的一个系统切模块。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必须包含：13 个以内的模块、三层归属、每个模块一行「不做什么」。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评分点：第 5 步（不做什么）—— 写不出来的说明边界还没想清。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练习与设计模式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设计模式：P-02 端口与适配器 / P-01 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P-02 端口与适配器：七个接口头就是七个端口。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http_transport / model_provider / sandbox / tool_registry /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context_budget / agent_loop —— 每个都对应一个「外部实现者」。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P-01 分层：落地成 13 模块 3 层。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依赖方向单向：交互执行 → 核心智能 → 基础设施。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⑦ Agent 循环是唯一的总调度：依赖 ②④⑥⑫，但不依赖 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练习与设计模式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设计模式：P-16 依赖注入 / P-15 访问者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P-16 依赖注入：依赖是引用，不由自己 new。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★ 该模式的作用在 L4 加载插件时得以体现：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ToolRegistry 不知道插件从哪来，只知道有人把实现注册进来。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P-15 访问者：ChatChunk 用 variant + std::visit 穷尽分支。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★ 遗漏一个分支将无法通过编译 —— 该约束对应决策 1 的模式名称。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练习与设计模式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8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常见错误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切分与顺序、契约的守与放两类高频错误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常见错误（一）：切分与顺序 —— 把「看起来相似」当成「同一改动理由」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常见错误（二）：契约的守与放 —— 只写文档不写断言；把实现细节塞进 types.hpp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常见错误（一）：切分与顺序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把「看起来相似」当成「同一改动理由」→ 模块切错。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先写代码后补设计 → 设计只是给已经写完的代码找理由。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五步流程里漏掉第 5 步（写「不做什么」）→ 边界还没想清。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8 章 · 常见错误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常见错误（二）：契约的守与放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L2 · 模块设计与核心契约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契约只写文档不写断言 → 没人守，也没人知道被破坏了。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把实现细节塞进 types.hpp → 它一变，全课都变。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反过来：该进 types.hpp 的共享类型放在各自头文件里 → 循环依赖。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判据是「被两个以上模块同时使用」，不是「放这儿方便」。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8 章 · 常见错误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2442</Words>
  <Application>Microsoft Office PowerPoint</Application>
  <PresentationFormat>宽屏</PresentationFormat>
  <Paragraphs>575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4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xs_zh</cp:lastModifiedBy>
  <cp:revision>8</cp:revision>
  <dcterms:created xsi:type="dcterms:W3CDTF">2013-01-27T09:14:16Z</dcterms:created>
  <dcterms:modified xsi:type="dcterms:W3CDTF">2026-10-08T02:54:56Z</dcterms:modified>
  <cp:category/>
</cp:coreProperties>
</file>